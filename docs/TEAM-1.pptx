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7" r:id="rId2"/>
    <p:sldId id="258" r:id="rId3"/>
    <p:sldId id="292" r:id="rId4"/>
    <p:sldId id="279" r:id="rId5"/>
    <p:sldId id="273" r:id="rId6"/>
    <p:sldId id="274" r:id="rId7"/>
    <p:sldId id="285" r:id="rId8"/>
    <p:sldId id="261" r:id="rId9"/>
    <p:sldId id="275" r:id="rId10"/>
    <p:sldId id="280" r:id="rId11"/>
    <p:sldId id="289" r:id="rId12"/>
    <p:sldId id="281" r:id="rId13"/>
    <p:sldId id="290" r:id="rId14"/>
    <p:sldId id="286" r:id="rId15"/>
    <p:sldId id="291" r:id="rId16"/>
    <p:sldId id="294" r:id="rId17"/>
    <p:sldId id="263" r:id="rId18"/>
    <p:sldId id="277" r:id="rId19"/>
    <p:sldId id="287" r:id="rId20"/>
    <p:sldId id="278" r:id="rId21"/>
    <p:sldId id="264" r:id="rId22"/>
    <p:sldId id="265" r:id="rId23"/>
    <p:sldId id="266" r:id="rId24"/>
    <p:sldId id="288" r:id="rId25"/>
    <p:sldId id="268" r:id="rId26"/>
    <p:sldId id="282" r:id="rId27"/>
    <p:sldId id="270" r:id="rId28"/>
    <p:sldId id="271"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412151-28A4-4E2E-B844-4CA7A06EB17E}" type="datetimeFigureOut">
              <a:rPr lang="en-IN" smtClean="0"/>
              <a:t>28-04-2023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0FEEBB-5E9C-4277-91B3-91D946A17024}" type="slidenum">
              <a:rPr lang="en-IN" smtClean="0"/>
              <a:t>‹#›</a:t>
            </a:fld>
            <a:endParaRPr lang="en-IN"/>
          </a:p>
        </p:txBody>
      </p:sp>
    </p:spTree>
    <p:extLst>
      <p:ext uri="{BB962C8B-B14F-4D97-AF65-F5344CB8AC3E}">
        <p14:creationId xmlns:p14="http://schemas.microsoft.com/office/powerpoint/2010/main" val="1665291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60FEEBB-5E9C-4277-91B3-91D946A17024}" type="slidenum">
              <a:rPr lang="en-IN" smtClean="0"/>
              <a:t>25</a:t>
            </a:fld>
            <a:endParaRPr lang="en-IN"/>
          </a:p>
        </p:txBody>
      </p:sp>
    </p:spTree>
    <p:extLst>
      <p:ext uri="{BB962C8B-B14F-4D97-AF65-F5344CB8AC3E}">
        <p14:creationId xmlns:p14="http://schemas.microsoft.com/office/powerpoint/2010/main" val="14807522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194B9-850F-073E-5451-2258E0DA21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1401F5A-C210-B72E-C39A-F0C3C20F13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40131C1-61A0-DCA4-53AD-CC6C92978E4F}"/>
              </a:ext>
            </a:extLst>
          </p:cNvPr>
          <p:cNvSpPr>
            <a:spLocks noGrp="1"/>
          </p:cNvSpPr>
          <p:nvPr>
            <p:ph type="dt" sz="half" idx="10"/>
          </p:nvPr>
        </p:nvSpPr>
        <p:spPr/>
        <p:txBody>
          <a:bodyPr/>
          <a:lstStyle/>
          <a:p>
            <a:fld id="{2EBB1897-41CA-490A-9D5E-D08B9FE860E5}" type="datetime1">
              <a:rPr lang="en-IN" smtClean="0"/>
              <a:t>28-04-2023</a:t>
            </a:fld>
            <a:endParaRPr lang="en-IN"/>
          </a:p>
        </p:txBody>
      </p:sp>
      <p:sp>
        <p:nvSpPr>
          <p:cNvPr id="5" name="Footer Placeholder 4">
            <a:extLst>
              <a:ext uri="{FF2B5EF4-FFF2-40B4-BE49-F238E27FC236}">
                <a16:creationId xmlns:a16="http://schemas.microsoft.com/office/drawing/2014/main" id="{9EF53ED4-3C16-53CC-51E1-FE1DE72EDCEA}"/>
              </a:ext>
            </a:extLst>
          </p:cNvPr>
          <p:cNvSpPr>
            <a:spLocks noGrp="1"/>
          </p:cNvSpPr>
          <p:nvPr>
            <p:ph type="ftr" sz="quarter" idx="11"/>
          </p:nvPr>
        </p:nvSpPr>
        <p:spPr/>
        <p:txBody>
          <a:bodyPr/>
          <a:lstStyle/>
          <a:p>
            <a:r>
              <a:rPr lang="en-IN"/>
              <a:t>SKCET / AI &amp; DS</a:t>
            </a:r>
          </a:p>
        </p:txBody>
      </p:sp>
      <p:sp>
        <p:nvSpPr>
          <p:cNvPr id="6" name="Slide Number Placeholder 5">
            <a:extLst>
              <a:ext uri="{FF2B5EF4-FFF2-40B4-BE49-F238E27FC236}">
                <a16:creationId xmlns:a16="http://schemas.microsoft.com/office/drawing/2014/main" id="{838FFF17-A4C9-824F-A355-3DEBC56EB69C}"/>
              </a:ext>
            </a:extLst>
          </p:cNvPr>
          <p:cNvSpPr>
            <a:spLocks noGrp="1"/>
          </p:cNvSpPr>
          <p:nvPr>
            <p:ph type="sldNum" sz="quarter" idx="12"/>
          </p:nvPr>
        </p:nvSpPr>
        <p:spPr/>
        <p:txBody>
          <a:bodyPr/>
          <a:lstStyle/>
          <a:p>
            <a:fld id="{424570A0-3C5D-48CC-A9DB-EDDFA94DE3F8}" type="slidenum">
              <a:rPr lang="en-IN" smtClean="0"/>
              <a:t>‹#›</a:t>
            </a:fld>
            <a:endParaRPr lang="en-IN"/>
          </a:p>
        </p:txBody>
      </p:sp>
    </p:spTree>
    <p:extLst>
      <p:ext uri="{BB962C8B-B14F-4D97-AF65-F5344CB8AC3E}">
        <p14:creationId xmlns:p14="http://schemas.microsoft.com/office/powerpoint/2010/main" val="42579023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1561E-8365-8DBE-0824-F202DEBA20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4C5E203-483E-3BB8-1B9E-73A886C95F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6C91A2D-8E23-0B2B-F297-905C702A05C5}"/>
              </a:ext>
            </a:extLst>
          </p:cNvPr>
          <p:cNvSpPr>
            <a:spLocks noGrp="1"/>
          </p:cNvSpPr>
          <p:nvPr>
            <p:ph type="dt" sz="half" idx="10"/>
          </p:nvPr>
        </p:nvSpPr>
        <p:spPr/>
        <p:txBody>
          <a:bodyPr/>
          <a:lstStyle/>
          <a:p>
            <a:fld id="{C7DB477B-E71A-4CFF-BF4C-39E63BDDBD18}" type="datetime1">
              <a:rPr lang="en-IN" smtClean="0"/>
              <a:t>28-04-2023</a:t>
            </a:fld>
            <a:endParaRPr lang="en-IN"/>
          </a:p>
        </p:txBody>
      </p:sp>
      <p:sp>
        <p:nvSpPr>
          <p:cNvPr id="5" name="Footer Placeholder 4">
            <a:extLst>
              <a:ext uri="{FF2B5EF4-FFF2-40B4-BE49-F238E27FC236}">
                <a16:creationId xmlns:a16="http://schemas.microsoft.com/office/drawing/2014/main" id="{6271CB94-F1A5-846F-FFF2-0F58F073EA1B}"/>
              </a:ext>
            </a:extLst>
          </p:cNvPr>
          <p:cNvSpPr>
            <a:spLocks noGrp="1"/>
          </p:cNvSpPr>
          <p:nvPr>
            <p:ph type="ftr" sz="quarter" idx="11"/>
          </p:nvPr>
        </p:nvSpPr>
        <p:spPr/>
        <p:txBody>
          <a:bodyPr/>
          <a:lstStyle/>
          <a:p>
            <a:r>
              <a:rPr lang="en-IN"/>
              <a:t>SKCET / AI &amp; DS</a:t>
            </a:r>
          </a:p>
        </p:txBody>
      </p:sp>
      <p:sp>
        <p:nvSpPr>
          <p:cNvPr id="6" name="Slide Number Placeholder 5">
            <a:extLst>
              <a:ext uri="{FF2B5EF4-FFF2-40B4-BE49-F238E27FC236}">
                <a16:creationId xmlns:a16="http://schemas.microsoft.com/office/drawing/2014/main" id="{61B68D7F-0874-277B-9E41-7D0FE90D1E97}"/>
              </a:ext>
            </a:extLst>
          </p:cNvPr>
          <p:cNvSpPr>
            <a:spLocks noGrp="1"/>
          </p:cNvSpPr>
          <p:nvPr>
            <p:ph type="sldNum" sz="quarter" idx="12"/>
          </p:nvPr>
        </p:nvSpPr>
        <p:spPr/>
        <p:txBody>
          <a:bodyPr/>
          <a:lstStyle/>
          <a:p>
            <a:fld id="{424570A0-3C5D-48CC-A9DB-EDDFA94DE3F8}" type="slidenum">
              <a:rPr lang="en-IN" smtClean="0"/>
              <a:t>‹#›</a:t>
            </a:fld>
            <a:endParaRPr lang="en-IN"/>
          </a:p>
        </p:txBody>
      </p:sp>
    </p:spTree>
    <p:extLst>
      <p:ext uri="{BB962C8B-B14F-4D97-AF65-F5344CB8AC3E}">
        <p14:creationId xmlns:p14="http://schemas.microsoft.com/office/powerpoint/2010/main" val="36495736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F7C99-E0ED-BCA2-CE26-1F032FD4E4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B654DE-4CC2-6B4D-98B2-35F41030DB7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BA2AFD-1747-8100-4ACD-38D42726F129}"/>
              </a:ext>
            </a:extLst>
          </p:cNvPr>
          <p:cNvSpPr>
            <a:spLocks noGrp="1"/>
          </p:cNvSpPr>
          <p:nvPr>
            <p:ph type="dt" sz="half" idx="10"/>
          </p:nvPr>
        </p:nvSpPr>
        <p:spPr/>
        <p:txBody>
          <a:bodyPr/>
          <a:lstStyle/>
          <a:p>
            <a:fld id="{8312B3B5-DC19-467C-89B6-BF63F6152D74}" type="datetime1">
              <a:rPr lang="en-IN" smtClean="0"/>
              <a:t>28-04-2023</a:t>
            </a:fld>
            <a:endParaRPr lang="en-IN"/>
          </a:p>
        </p:txBody>
      </p:sp>
      <p:sp>
        <p:nvSpPr>
          <p:cNvPr id="5" name="Footer Placeholder 4">
            <a:extLst>
              <a:ext uri="{FF2B5EF4-FFF2-40B4-BE49-F238E27FC236}">
                <a16:creationId xmlns:a16="http://schemas.microsoft.com/office/drawing/2014/main" id="{34141258-6B10-335C-5B93-DDEC8DAF32D1}"/>
              </a:ext>
            </a:extLst>
          </p:cNvPr>
          <p:cNvSpPr>
            <a:spLocks noGrp="1"/>
          </p:cNvSpPr>
          <p:nvPr>
            <p:ph type="ftr" sz="quarter" idx="11"/>
          </p:nvPr>
        </p:nvSpPr>
        <p:spPr/>
        <p:txBody>
          <a:bodyPr/>
          <a:lstStyle/>
          <a:p>
            <a:r>
              <a:rPr lang="en-IN"/>
              <a:t>SKCET / AI &amp; DS</a:t>
            </a:r>
          </a:p>
        </p:txBody>
      </p:sp>
      <p:sp>
        <p:nvSpPr>
          <p:cNvPr id="6" name="Slide Number Placeholder 5">
            <a:extLst>
              <a:ext uri="{FF2B5EF4-FFF2-40B4-BE49-F238E27FC236}">
                <a16:creationId xmlns:a16="http://schemas.microsoft.com/office/drawing/2014/main" id="{CF60F457-C332-BD57-6F30-E331325B595E}"/>
              </a:ext>
            </a:extLst>
          </p:cNvPr>
          <p:cNvSpPr>
            <a:spLocks noGrp="1"/>
          </p:cNvSpPr>
          <p:nvPr>
            <p:ph type="sldNum" sz="quarter" idx="12"/>
          </p:nvPr>
        </p:nvSpPr>
        <p:spPr/>
        <p:txBody>
          <a:bodyPr/>
          <a:lstStyle/>
          <a:p>
            <a:fld id="{424570A0-3C5D-48CC-A9DB-EDDFA94DE3F8}" type="slidenum">
              <a:rPr lang="en-IN" smtClean="0"/>
              <a:t>‹#›</a:t>
            </a:fld>
            <a:endParaRPr lang="en-IN"/>
          </a:p>
        </p:txBody>
      </p:sp>
    </p:spTree>
    <p:extLst>
      <p:ext uri="{BB962C8B-B14F-4D97-AF65-F5344CB8AC3E}">
        <p14:creationId xmlns:p14="http://schemas.microsoft.com/office/powerpoint/2010/main" val="813650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50FCC-605C-0427-3591-B491DDAE0CB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6750C5D-764F-A847-5BE3-A4FCAA091ED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165BB36-95B3-560F-4D46-299EBF0834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BF4E430-839F-8DF2-0E9F-08EDA07DEAF9}"/>
              </a:ext>
            </a:extLst>
          </p:cNvPr>
          <p:cNvSpPr>
            <a:spLocks noGrp="1"/>
          </p:cNvSpPr>
          <p:nvPr>
            <p:ph type="dt" sz="half" idx="10"/>
          </p:nvPr>
        </p:nvSpPr>
        <p:spPr/>
        <p:txBody>
          <a:bodyPr/>
          <a:lstStyle/>
          <a:p>
            <a:fld id="{6F0CE25F-C191-4CA3-B8C1-F414C27AAD5B}" type="datetime1">
              <a:rPr lang="en-IN" smtClean="0"/>
              <a:t>28-04-2023</a:t>
            </a:fld>
            <a:endParaRPr lang="en-IN"/>
          </a:p>
        </p:txBody>
      </p:sp>
      <p:sp>
        <p:nvSpPr>
          <p:cNvPr id="6" name="Footer Placeholder 5">
            <a:extLst>
              <a:ext uri="{FF2B5EF4-FFF2-40B4-BE49-F238E27FC236}">
                <a16:creationId xmlns:a16="http://schemas.microsoft.com/office/drawing/2014/main" id="{A550BEC8-10F1-882C-CD8B-7E8BB0D3787B}"/>
              </a:ext>
            </a:extLst>
          </p:cNvPr>
          <p:cNvSpPr>
            <a:spLocks noGrp="1"/>
          </p:cNvSpPr>
          <p:nvPr>
            <p:ph type="ftr" sz="quarter" idx="11"/>
          </p:nvPr>
        </p:nvSpPr>
        <p:spPr/>
        <p:txBody>
          <a:bodyPr/>
          <a:lstStyle/>
          <a:p>
            <a:r>
              <a:rPr lang="en-IN"/>
              <a:t>SKCET / AI &amp; DS</a:t>
            </a:r>
          </a:p>
        </p:txBody>
      </p:sp>
      <p:sp>
        <p:nvSpPr>
          <p:cNvPr id="7" name="Slide Number Placeholder 6">
            <a:extLst>
              <a:ext uri="{FF2B5EF4-FFF2-40B4-BE49-F238E27FC236}">
                <a16:creationId xmlns:a16="http://schemas.microsoft.com/office/drawing/2014/main" id="{7CE18139-4C67-F8CF-A928-6F244190F92F}"/>
              </a:ext>
            </a:extLst>
          </p:cNvPr>
          <p:cNvSpPr>
            <a:spLocks noGrp="1"/>
          </p:cNvSpPr>
          <p:nvPr>
            <p:ph type="sldNum" sz="quarter" idx="12"/>
          </p:nvPr>
        </p:nvSpPr>
        <p:spPr/>
        <p:txBody>
          <a:bodyPr/>
          <a:lstStyle/>
          <a:p>
            <a:fld id="{424570A0-3C5D-48CC-A9DB-EDDFA94DE3F8}" type="slidenum">
              <a:rPr lang="en-IN" smtClean="0"/>
              <a:t>‹#›</a:t>
            </a:fld>
            <a:endParaRPr lang="en-IN"/>
          </a:p>
        </p:txBody>
      </p:sp>
    </p:spTree>
    <p:extLst>
      <p:ext uri="{BB962C8B-B14F-4D97-AF65-F5344CB8AC3E}">
        <p14:creationId xmlns:p14="http://schemas.microsoft.com/office/powerpoint/2010/main" val="11041340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6100E-8EFE-24E1-DEAB-E0B0026772F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FACFCD9-4B84-5724-E045-6E7AB04989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200EC85-1CF5-43ED-6958-E438718CDE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0978C71-936B-B5A1-436E-9E8ABE2B09C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F6BE5F-2765-AF4A-04C0-A07B5ED56E0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DC31CC2-107F-2BFF-D553-778BE0A009CE}"/>
              </a:ext>
            </a:extLst>
          </p:cNvPr>
          <p:cNvSpPr>
            <a:spLocks noGrp="1"/>
          </p:cNvSpPr>
          <p:nvPr>
            <p:ph type="dt" sz="half" idx="10"/>
          </p:nvPr>
        </p:nvSpPr>
        <p:spPr/>
        <p:txBody>
          <a:bodyPr/>
          <a:lstStyle/>
          <a:p>
            <a:fld id="{CBCF2508-2D85-4B73-BA83-B6C70B89A5CE}" type="datetime1">
              <a:rPr lang="en-IN" smtClean="0"/>
              <a:t>28-04-2023</a:t>
            </a:fld>
            <a:endParaRPr lang="en-IN"/>
          </a:p>
        </p:txBody>
      </p:sp>
      <p:sp>
        <p:nvSpPr>
          <p:cNvPr id="8" name="Footer Placeholder 7">
            <a:extLst>
              <a:ext uri="{FF2B5EF4-FFF2-40B4-BE49-F238E27FC236}">
                <a16:creationId xmlns:a16="http://schemas.microsoft.com/office/drawing/2014/main" id="{8A8C5C98-DBB7-0E8E-1005-703953F065C4}"/>
              </a:ext>
            </a:extLst>
          </p:cNvPr>
          <p:cNvSpPr>
            <a:spLocks noGrp="1"/>
          </p:cNvSpPr>
          <p:nvPr>
            <p:ph type="ftr" sz="quarter" idx="11"/>
          </p:nvPr>
        </p:nvSpPr>
        <p:spPr/>
        <p:txBody>
          <a:bodyPr/>
          <a:lstStyle/>
          <a:p>
            <a:r>
              <a:rPr lang="en-IN"/>
              <a:t>SKCET / AI &amp; DS</a:t>
            </a:r>
          </a:p>
        </p:txBody>
      </p:sp>
      <p:sp>
        <p:nvSpPr>
          <p:cNvPr id="9" name="Slide Number Placeholder 8">
            <a:extLst>
              <a:ext uri="{FF2B5EF4-FFF2-40B4-BE49-F238E27FC236}">
                <a16:creationId xmlns:a16="http://schemas.microsoft.com/office/drawing/2014/main" id="{CD7828AB-8D5B-2E43-048A-415B144A2630}"/>
              </a:ext>
            </a:extLst>
          </p:cNvPr>
          <p:cNvSpPr>
            <a:spLocks noGrp="1"/>
          </p:cNvSpPr>
          <p:nvPr>
            <p:ph type="sldNum" sz="quarter" idx="12"/>
          </p:nvPr>
        </p:nvSpPr>
        <p:spPr/>
        <p:txBody>
          <a:bodyPr/>
          <a:lstStyle/>
          <a:p>
            <a:fld id="{424570A0-3C5D-48CC-A9DB-EDDFA94DE3F8}" type="slidenum">
              <a:rPr lang="en-IN" smtClean="0"/>
              <a:t>‹#›</a:t>
            </a:fld>
            <a:endParaRPr lang="en-IN"/>
          </a:p>
        </p:txBody>
      </p:sp>
    </p:spTree>
    <p:extLst>
      <p:ext uri="{BB962C8B-B14F-4D97-AF65-F5344CB8AC3E}">
        <p14:creationId xmlns:p14="http://schemas.microsoft.com/office/powerpoint/2010/main" val="448999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FA06F-A266-A187-55A9-56389C57A5D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C6AAE48-1EEB-73C1-12F0-FAA48A6D604F}"/>
              </a:ext>
            </a:extLst>
          </p:cNvPr>
          <p:cNvSpPr>
            <a:spLocks noGrp="1"/>
          </p:cNvSpPr>
          <p:nvPr>
            <p:ph type="dt" sz="half" idx="10"/>
          </p:nvPr>
        </p:nvSpPr>
        <p:spPr/>
        <p:txBody>
          <a:bodyPr/>
          <a:lstStyle/>
          <a:p>
            <a:fld id="{E0C8D39A-4115-48AA-9BFA-9653CA05BD75}" type="datetime1">
              <a:rPr lang="en-IN" smtClean="0"/>
              <a:t>28-04-2023</a:t>
            </a:fld>
            <a:endParaRPr lang="en-IN"/>
          </a:p>
        </p:txBody>
      </p:sp>
      <p:sp>
        <p:nvSpPr>
          <p:cNvPr id="4" name="Footer Placeholder 3">
            <a:extLst>
              <a:ext uri="{FF2B5EF4-FFF2-40B4-BE49-F238E27FC236}">
                <a16:creationId xmlns:a16="http://schemas.microsoft.com/office/drawing/2014/main" id="{739B9E6C-EEDE-4EED-01A1-D00D47F0F7C3}"/>
              </a:ext>
            </a:extLst>
          </p:cNvPr>
          <p:cNvSpPr>
            <a:spLocks noGrp="1"/>
          </p:cNvSpPr>
          <p:nvPr>
            <p:ph type="ftr" sz="quarter" idx="11"/>
          </p:nvPr>
        </p:nvSpPr>
        <p:spPr/>
        <p:txBody>
          <a:bodyPr/>
          <a:lstStyle/>
          <a:p>
            <a:r>
              <a:rPr lang="en-IN"/>
              <a:t>SKCET / AI &amp; DS</a:t>
            </a:r>
          </a:p>
        </p:txBody>
      </p:sp>
      <p:sp>
        <p:nvSpPr>
          <p:cNvPr id="5" name="Slide Number Placeholder 4">
            <a:extLst>
              <a:ext uri="{FF2B5EF4-FFF2-40B4-BE49-F238E27FC236}">
                <a16:creationId xmlns:a16="http://schemas.microsoft.com/office/drawing/2014/main" id="{5DA38158-77C7-B881-0811-B835D394F536}"/>
              </a:ext>
            </a:extLst>
          </p:cNvPr>
          <p:cNvSpPr>
            <a:spLocks noGrp="1"/>
          </p:cNvSpPr>
          <p:nvPr>
            <p:ph type="sldNum" sz="quarter" idx="12"/>
          </p:nvPr>
        </p:nvSpPr>
        <p:spPr/>
        <p:txBody>
          <a:bodyPr/>
          <a:lstStyle/>
          <a:p>
            <a:fld id="{424570A0-3C5D-48CC-A9DB-EDDFA94DE3F8}" type="slidenum">
              <a:rPr lang="en-IN" smtClean="0"/>
              <a:t>‹#›</a:t>
            </a:fld>
            <a:endParaRPr lang="en-IN"/>
          </a:p>
        </p:txBody>
      </p:sp>
    </p:spTree>
    <p:extLst>
      <p:ext uri="{BB962C8B-B14F-4D97-AF65-F5344CB8AC3E}">
        <p14:creationId xmlns:p14="http://schemas.microsoft.com/office/powerpoint/2010/main" val="28720265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DE9677-C14C-D84A-C7D4-90EE02BC25F7}"/>
              </a:ext>
            </a:extLst>
          </p:cNvPr>
          <p:cNvSpPr>
            <a:spLocks noGrp="1"/>
          </p:cNvSpPr>
          <p:nvPr>
            <p:ph type="dt" sz="half" idx="10"/>
          </p:nvPr>
        </p:nvSpPr>
        <p:spPr/>
        <p:txBody>
          <a:bodyPr/>
          <a:lstStyle/>
          <a:p>
            <a:fld id="{B615DBB3-7694-41CD-8E23-BEF318372AD1}" type="datetime1">
              <a:rPr lang="en-IN" smtClean="0"/>
              <a:t>28-04-2023</a:t>
            </a:fld>
            <a:endParaRPr lang="en-IN"/>
          </a:p>
        </p:txBody>
      </p:sp>
      <p:sp>
        <p:nvSpPr>
          <p:cNvPr id="3" name="Footer Placeholder 2">
            <a:extLst>
              <a:ext uri="{FF2B5EF4-FFF2-40B4-BE49-F238E27FC236}">
                <a16:creationId xmlns:a16="http://schemas.microsoft.com/office/drawing/2014/main" id="{22D54B09-CD86-0FEC-7B68-DAC80E94EBDE}"/>
              </a:ext>
            </a:extLst>
          </p:cNvPr>
          <p:cNvSpPr>
            <a:spLocks noGrp="1"/>
          </p:cNvSpPr>
          <p:nvPr>
            <p:ph type="ftr" sz="quarter" idx="11"/>
          </p:nvPr>
        </p:nvSpPr>
        <p:spPr/>
        <p:txBody>
          <a:bodyPr/>
          <a:lstStyle/>
          <a:p>
            <a:r>
              <a:rPr lang="en-IN"/>
              <a:t>SKCET / AI &amp; DS</a:t>
            </a:r>
          </a:p>
        </p:txBody>
      </p:sp>
      <p:sp>
        <p:nvSpPr>
          <p:cNvPr id="4" name="Slide Number Placeholder 3">
            <a:extLst>
              <a:ext uri="{FF2B5EF4-FFF2-40B4-BE49-F238E27FC236}">
                <a16:creationId xmlns:a16="http://schemas.microsoft.com/office/drawing/2014/main" id="{E8E68BEF-7D44-4F7C-4696-462B88E4D944}"/>
              </a:ext>
            </a:extLst>
          </p:cNvPr>
          <p:cNvSpPr>
            <a:spLocks noGrp="1"/>
          </p:cNvSpPr>
          <p:nvPr>
            <p:ph type="sldNum" sz="quarter" idx="12"/>
          </p:nvPr>
        </p:nvSpPr>
        <p:spPr/>
        <p:txBody>
          <a:bodyPr/>
          <a:lstStyle/>
          <a:p>
            <a:fld id="{424570A0-3C5D-48CC-A9DB-EDDFA94DE3F8}" type="slidenum">
              <a:rPr lang="en-IN" smtClean="0"/>
              <a:t>‹#›</a:t>
            </a:fld>
            <a:endParaRPr lang="en-IN"/>
          </a:p>
        </p:txBody>
      </p:sp>
    </p:spTree>
    <p:extLst>
      <p:ext uri="{BB962C8B-B14F-4D97-AF65-F5344CB8AC3E}">
        <p14:creationId xmlns:p14="http://schemas.microsoft.com/office/powerpoint/2010/main" val="1913688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F83DE-B2B6-A51E-40BA-7C7A51C73C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82A1B96-72DC-C086-3652-3FA1A770FBB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919A139-A832-0CA5-BD0B-0329698256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ACC7F8-F79F-D4A3-0C6C-58C6F0B1FAA3}"/>
              </a:ext>
            </a:extLst>
          </p:cNvPr>
          <p:cNvSpPr>
            <a:spLocks noGrp="1"/>
          </p:cNvSpPr>
          <p:nvPr>
            <p:ph type="dt" sz="half" idx="10"/>
          </p:nvPr>
        </p:nvSpPr>
        <p:spPr/>
        <p:txBody>
          <a:bodyPr/>
          <a:lstStyle/>
          <a:p>
            <a:fld id="{B5536CE7-BFBF-4DC9-9061-4D6BBD18E1C0}" type="datetime1">
              <a:rPr lang="en-IN" smtClean="0"/>
              <a:t>28-04-2023</a:t>
            </a:fld>
            <a:endParaRPr lang="en-IN"/>
          </a:p>
        </p:txBody>
      </p:sp>
      <p:sp>
        <p:nvSpPr>
          <p:cNvPr id="6" name="Footer Placeholder 5">
            <a:extLst>
              <a:ext uri="{FF2B5EF4-FFF2-40B4-BE49-F238E27FC236}">
                <a16:creationId xmlns:a16="http://schemas.microsoft.com/office/drawing/2014/main" id="{5B74E58C-3209-3290-E684-285D3C470319}"/>
              </a:ext>
            </a:extLst>
          </p:cNvPr>
          <p:cNvSpPr>
            <a:spLocks noGrp="1"/>
          </p:cNvSpPr>
          <p:nvPr>
            <p:ph type="ftr" sz="quarter" idx="11"/>
          </p:nvPr>
        </p:nvSpPr>
        <p:spPr/>
        <p:txBody>
          <a:bodyPr/>
          <a:lstStyle/>
          <a:p>
            <a:r>
              <a:rPr lang="en-IN"/>
              <a:t>SKCET / AI &amp; DS</a:t>
            </a:r>
          </a:p>
        </p:txBody>
      </p:sp>
      <p:sp>
        <p:nvSpPr>
          <p:cNvPr id="7" name="Slide Number Placeholder 6">
            <a:extLst>
              <a:ext uri="{FF2B5EF4-FFF2-40B4-BE49-F238E27FC236}">
                <a16:creationId xmlns:a16="http://schemas.microsoft.com/office/drawing/2014/main" id="{4220A7CD-A8A2-20CA-FB26-8B4AE5719745}"/>
              </a:ext>
            </a:extLst>
          </p:cNvPr>
          <p:cNvSpPr>
            <a:spLocks noGrp="1"/>
          </p:cNvSpPr>
          <p:nvPr>
            <p:ph type="sldNum" sz="quarter" idx="12"/>
          </p:nvPr>
        </p:nvSpPr>
        <p:spPr/>
        <p:txBody>
          <a:bodyPr/>
          <a:lstStyle/>
          <a:p>
            <a:fld id="{424570A0-3C5D-48CC-A9DB-EDDFA94DE3F8}" type="slidenum">
              <a:rPr lang="en-IN" smtClean="0"/>
              <a:t>‹#›</a:t>
            </a:fld>
            <a:endParaRPr lang="en-IN"/>
          </a:p>
        </p:txBody>
      </p:sp>
    </p:spTree>
    <p:extLst>
      <p:ext uri="{BB962C8B-B14F-4D97-AF65-F5344CB8AC3E}">
        <p14:creationId xmlns:p14="http://schemas.microsoft.com/office/powerpoint/2010/main" val="25151407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8A291-2BF5-1AE2-B002-C41DAF5067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D214339-2E1D-15C6-CF9A-4118B78A70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6DA7D08-60CA-B406-57D2-4A77B0B38C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D7914A-1A47-6EA5-33B2-A1DC722DF43D}"/>
              </a:ext>
            </a:extLst>
          </p:cNvPr>
          <p:cNvSpPr>
            <a:spLocks noGrp="1"/>
          </p:cNvSpPr>
          <p:nvPr>
            <p:ph type="dt" sz="half" idx="10"/>
          </p:nvPr>
        </p:nvSpPr>
        <p:spPr/>
        <p:txBody>
          <a:bodyPr/>
          <a:lstStyle/>
          <a:p>
            <a:fld id="{598ED77C-E0A6-448B-A40B-646A9B305C1E}" type="datetime1">
              <a:rPr lang="en-IN" smtClean="0"/>
              <a:t>28-04-2023</a:t>
            </a:fld>
            <a:endParaRPr lang="en-IN"/>
          </a:p>
        </p:txBody>
      </p:sp>
      <p:sp>
        <p:nvSpPr>
          <p:cNvPr id="6" name="Footer Placeholder 5">
            <a:extLst>
              <a:ext uri="{FF2B5EF4-FFF2-40B4-BE49-F238E27FC236}">
                <a16:creationId xmlns:a16="http://schemas.microsoft.com/office/drawing/2014/main" id="{4846C693-399C-D0CF-4C9F-7A733FBE14E4}"/>
              </a:ext>
            </a:extLst>
          </p:cNvPr>
          <p:cNvSpPr>
            <a:spLocks noGrp="1"/>
          </p:cNvSpPr>
          <p:nvPr>
            <p:ph type="ftr" sz="quarter" idx="11"/>
          </p:nvPr>
        </p:nvSpPr>
        <p:spPr/>
        <p:txBody>
          <a:bodyPr/>
          <a:lstStyle/>
          <a:p>
            <a:r>
              <a:rPr lang="en-IN"/>
              <a:t>SKCET / AI &amp; DS</a:t>
            </a:r>
          </a:p>
        </p:txBody>
      </p:sp>
      <p:sp>
        <p:nvSpPr>
          <p:cNvPr id="7" name="Slide Number Placeholder 6">
            <a:extLst>
              <a:ext uri="{FF2B5EF4-FFF2-40B4-BE49-F238E27FC236}">
                <a16:creationId xmlns:a16="http://schemas.microsoft.com/office/drawing/2014/main" id="{7595DC2A-E648-6017-4387-D5FE58CA6719}"/>
              </a:ext>
            </a:extLst>
          </p:cNvPr>
          <p:cNvSpPr>
            <a:spLocks noGrp="1"/>
          </p:cNvSpPr>
          <p:nvPr>
            <p:ph type="sldNum" sz="quarter" idx="12"/>
          </p:nvPr>
        </p:nvSpPr>
        <p:spPr/>
        <p:txBody>
          <a:bodyPr/>
          <a:lstStyle/>
          <a:p>
            <a:fld id="{424570A0-3C5D-48CC-A9DB-EDDFA94DE3F8}" type="slidenum">
              <a:rPr lang="en-IN" smtClean="0"/>
              <a:t>‹#›</a:t>
            </a:fld>
            <a:endParaRPr lang="en-IN"/>
          </a:p>
        </p:txBody>
      </p:sp>
    </p:spTree>
    <p:extLst>
      <p:ext uri="{BB962C8B-B14F-4D97-AF65-F5344CB8AC3E}">
        <p14:creationId xmlns:p14="http://schemas.microsoft.com/office/powerpoint/2010/main" val="3522918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680FB-2DE8-3739-DF0D-DD0F4FC8108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722D7D0-D343-8820-CD3E-AEC185AB56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E095B9A-44F8-3840-1A62-1C774F47EF3A}"/>
              </a:ext>
            </a:extLst>
          </p:cNvPr>
          <p:cNvSpPr>
            <a:spLocks noGrp="1"/>
          </p:cNvSpPr>
          <p:nvPr>
            <p:ph type="dt" sz="half" idx="10"/>
          </p:nvPr>
        </p:nvSpPr>
        <p:spPr/>
        <p:txBody>
          <a:bodyPr/>
          <a:lstStyle/>
          <a:p>
            <a:fld id="{FD6E7488-700E-45E5-9C93-23290CB4A110}" type="datetime1">
              <a:rPr lang="en-IN" smtClean="0"/>
              <a:t>28-04-2023</a:t>
            </a:fld>
            <a:endParaRPr lang="en-IN"/>
          </a:p>
        </p:txBody>
      </p:sp>
      <p:sp>
        <p:nvSpPr>
          <p:cNvPr id="5" name="Footer Placeholder 4">
            <a:extLst>
              <a:ext uri="{FF2B5EF4-FFF2-40B4-BE49-F238E27FC236}">
                <a16:creationId xmlns:a16="http://schemas.microsoft.com/office/drawing/2014/main" id="{03AD4842-33BE-EA45-A27E-0CCB320EB54E}"/>
              </a:ext>
            </a:extLst>
          </p:cNvPr>
          <p:cNvSpPr>
            <a:spLocks noGrp="1"/>
          </p:cNvSpPr>
          <p:nvPr>
            <p:ph type="ftr" sz="quarter" idx="11"/>
          </p:nvPr>
        </p:nvSpPr>
        <p:spPr/>
        <p:txBody>
          <a:bodyPr/>
          <a:lstStyle/>
          <a:p>
            <a:r>
              <a:rPr lang="en-IN"/>
              <a:t>SKCET / AI &amp; DS</a:t>
            </a:r>
          </a:p>
        </p:txBody>
      </p:sp>
      <p:sp>
        <p:nvSpPr>
          <p:cNvPr id="6" name="Slide Number Placeholder 5">
            <a:extLst>
              <a:ext uri="{FF2B5EF4-FFF2-40B4-BE49-F238E27FC236}">
                <a16:creationId xmlns:a16="http://schemas.microsoft.com/office/drawing/2014/main" id="{5AF8CA83-06A5-35A6-28B1-ECA34600A4CF}"/>
              </a:ext>
            </a:extLst>
          </p:cNvPr>
          <p:cNvSpPr>
            <a:spLocks noGrp="1"/>
          </p:cNvSpPr>
          <p:nvPr>
            <p:ph type="sldNum" sz="quarter" idx="12"/>
          </p:nvPr>
        </p:nvSpPr>
        <p:spPr/>
        <p:txBody>
          <a:bodyPr/>
          <a:lstStyle/>
          <a:p>
            <a:fld id="{424570A0-3C5D-48CC-A9DB-EDDFA94DE3F8}" type="slidenum">
              <a:rPr lang="en-IN" smtClean="0"/>
              <a:t>‹#›</a:t>
            </a:fld>
            <a:endParaRPr lang="en-IN"/>
          </a:p>
        </p:txBody>
      </p:sp>
    </p:spTree>
    <p:extLst>
      <p:ext uri="{BB962C8B-B14F-4D97-AF65-F5344CB8AC3E}">
        <p14:creationId xmlns:p14="http://schemas.microsoft.com/office/powerpoint/2010/main" val="3500081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6F0258-7F36-EB0C-6152-E3C81D4B73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EB8B4CB-7C53-30DA-6A49-A83862665C0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4C8FF3-9794-0AC6-2496-C9E13C65B989}"/>
              </a:ext>
            </a:extLst>
          </p:cNvPr>
          <p:cNvSpPr>
            <a:spLocks noGrp="1"/>
          </p:cNvSpPr>
          <p:nvPr>
            <p:ph type="dt" sz="half" idx="10"/>
          </p:nvPr>
        </p:nvSpPr>
        <p:spPr/>
        <p:txBody>
          <a:bodyPr/>
          <a:lstStyle/>
          <a:p>
            <a:fld id="{FCDE7B2C-DE5E-4DFA-A2F5-EF89D6EBD76A}" type="datetime1">
              <a:rPr lang="en-IN" smtClean="0"/>
              <a:t>28-04-2023</a:t>
            </a:fld>
            <a:endParaRPr lang="en-IN"/>
          </a:p>
        </p:txBody>
      </p:sp>
      <p:sp>
        <p:nvSpPr>
          <p:cNvPr id="5" name="Footer Placeholder 4">
            <a:extLst>
              <a:ext uri="{FF2B5EF4-FFF2-40B4-BE49-F238E27FC236}">
                <a16:creationId xmlns:a16="http://schemas.microsoft.com/office/drawing/2014/main" id="{ECA44150-C87D-1833-A80E-ED1FA9C82DCE}"/>
              </a:ext>
            </a:extLst>
          </p:cNvPr>
          <p:cNvSpPr>
            <a:spLocks noGrp="1"/>
          </p:cNvSpPr>
          <p:nvPr>
            <p:ph type="ftr" sz="quarter" idx="11"/>
          </p:nvPr>
        </p:nvSpPr>
        <p:spPr/>
        <p:txBody>
          <a:bodyPr/>
          <a:lstStyle/>
          <a:p>
            <a:r>
              <a:rPr lang="en-IN"/>
              <a:t>SKCET / AI &amp; DS</a:t>
            </a:r>
          </a:p>
        </p:txBody>
      </p:sp>
      <p:sp>
        <p:nvSpPr>
          <p:cNvPr id="6" name="Slide Number Placeholder 5">
            <a:extLst>
              <a:ext uri="{FF2B5EF4-FFF2-40B4-BE49-F238E27FC236}">
                <a16:creationId xmlns:a16="http://schemas.microsoft.com/office/drawing/2014/main" id="{B7819C78-6C79-7017-5DAD-0AB7DCEBFEB3}"/>
              </a:ext>
            </a:extLst>
          </p:cNvPr>
          <p:cNvSpPr>
            <a:spLocks noGrp="1"/>
          </p:cNvSpPr>
          <p:nvPr>
            <p:ph type="sldNum" sz="quarter" idx="12"/>
          </p:nvPr>
        </p:nvSpPr>
        <p:spPr/>
        <p:txBody>
          <a:bodyPr/>
          <a:lstStyle/>
          <a:p>
            <a:fld id="{424570A0-3C5D-48CC-A9DB-EDDFA94DE3F8}" type="slidenum">
              <a:rPr lang="en-IN" smtClean="0"/>
              <a:t>‹#›</a:t>
            </a:fld>
            <a:endParaRPr lang="en-IN"/>
          </a:p>
        </p:txBody>
      </p:sp>
    </p:spTree>
    <p:extLst>
      <p:ext uri="{BB962C8B-B14F-4D97-AF65-F5344CB8AC3E}">
        <p14:creationId xmlns:p14="http://schemas.microsoft.com/office/powerpoint/2010/main" val="2534107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D01868-92DC-1FE5-B5E6-37050C4617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9914E6B-EE61-3C43-FBE6-60B9C4BE86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B2305E-F826-DB41-A123-98E56885B5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8A2B7E-6D0C-408D-9159-F5BA1520CB57}" type="datetime1">
              <a:rPr lang="en-IN" smtClean="0"/>
              <a:t>28-04-2023</a:t>
            </a:fld>
            <a:endParaRPr lang="en-IN"/>
          </a:p>
        </p:txBody>
      </p:sp>
      <p:sp>
        <p:nvSpPr>
          <p:cNvPr id="5" name="Footer Placeholder 4">
            <a:extLst>
              <a:ext uri="{FF2B5EF4-FFF2-40B4-BE49-F238E27FC236}">
                <a16:creationId xmlns:a16="http://schemas.microsoft.com/office/drawing/2014/main" id="{96D7040D-41DF-B00A-C740-2C448D9F49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SKCET / AI &amp; DS</a:t>
            </a:r>
          </a:p>
        </p:txBody>
      </p:sp>
      <p:sp>
        <p:nvSpPr>
          <p:cNvPr id="6" name="Slide Number Placeholder 5">
            <a:extLst>
              <a:ext uri="{FF2B5EF4-FFF2-40B4-BE49-F238E27FC236}">
                <a16:creationId xmlns:a16="http://schemas.microsoft.com/office/drawing/2014/main" id="{7C06E825-9492-0AFC-F478-BFB30F0D04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4570A0-3C5D-48CC-A9DB-EDDFA94DE3F8}" type="slidenum">
              <a:rPr lang="en-IN" smtClean="0"/>
              <a:t>‹#›</a:t>
            </a:fld>
            <a:endParaRPr lang="en-IN"/>
          </a:p>
        </p:txBody>
      </p:sp>
    </p:spTree>
    <p:extLst>
      <p:ext uri="{BB962C8B-B14F-4D97-AF65-F5344CB8AC3E}">
        <p14:creationId xmlns:p14="http://schemas.microsoft.com/office/powerpoint/2010/main" val="33171580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62430-0DD7-F5AA-6758-6ADBB77CF893}"/>
              </a:ext>
            </a:extLst>
          </p:cNvPr>
          <p:cNvSpPr>
            <a:spLocks noGrp="1"/>
          </p:cNvSpPr>
          <p:nvPr>
            <p:ph type="title"/>
          </p:nvPr>
        </p:nvSpPr>
        <p:spPr>
          <a:xfrm>
            <a:off x="756007" y="2103362"/>
            <a:ext cx="10515600" cy="822325"/>
          </a:xfrm>
        </p:spPr>
        <p:txBody>
          <a:bodyPr>
            <a:noAutofit/>
          </a:bodyPr>
          <a:lstStyle/>
          <a:p>
            <a:pPr algn="ctr"/>
            <a:r>
              <a:rPr lang="en-US" sz="2800" b="1" dirty="0">
                <a:latin typeface="Times New Roman" panose="02020603050405020304" pitchFamily="18" charset="0"/>
                <a:cs typeface="Times New Roman" panose="02020603050405020304" pitchFamily="18" charset="0"/>
              </a:rPr>
              <a:t>STOCK PRICE PREDICTION AND FORECASTING </a:t>
            </a: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USING MACHINE LEARNING</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F82CF9A-67E2-C8D2-0231-33BA42A2CD2D}"/>
              </a:ext>
            </a:extLst>
          </p:cNvPr>
          <p:cNvSpPr>
            <a:spLocks noGrp="1"/>
          </p:cNvSpPr>
          <p:nvPr>
            <p:ph idx="1"/>
          </p:nvPr>
        </p:nvSpPr>
        <p:spPr>
          <a:xfrm>
            <a:off x="6329408" y="3485048"/>
            <a:ext cx="5356690" cy="2230698"/>
          </a:xfrm>
        </p:spPr>
        <p:txBody>
          <a:bodyPr>
            <a:normAutofit/>
          </a:bodyPr>
          <a:lstStyle/>
          <a:p>
            <a:pPr marL="0" lvl="0" indent="0" algn="l" rtl="0">
              <a:lnSpc>
                <a:spcPct val="115000"/>
              </a:lnSpc>
              <a:spcBef>
                <a:spcPts val="0"/>
              </a:spcBef>
              <a:spcAft>
                <a:spcPts val="0"/>
              </a:spcAft>
              <a:buClr>
                <a:schemeClr val="dk1"/>
              </a:buClr>
              <a:buSzPts val="1100"/>
              <a:buFont typeface="Arial"/>
              <a:buNone/>
            </a:pPr>
            <a:r>
              <a:rPr lang="en-IN" sz="2400" b="1" dirty="0">
                <a:latin typeface="Times New Roman" panose="02020603050405020304" pitchFamily="18" charset="0"/>
                <a:cs typeface="Times New Roman" panose="02020603050405020304" pitchFamily="18" charset="0"/>
              </a:rPr>
              <a:t>MENTOR :</a:t>
            </a:r>
          </a:p>
          <a:p>
            <a:pPr marL="0" lvl="0" indent="0" algn="l" rtl="0">
              <a:lnSpc>
                <a:spcPct val="115000"/>
              </a:lnSpc>
              <a:spcBef>
                <a:spcPts val="0"/>
              </a:spcBef>
              <a:spcAft>
                <a:spcPts val="0"/>
              </a:spcAft>
              <a:buClr>
                <a:schemeClr val="dk1"/>
              </a:buClr>
              <a:buSzPts val="1100"/>
              <a:buFont typeface="Arial"/>
              <a:buNone/>
            </a:pPr>
            <a:r>
              <a:rPr lang="en-US" sz="2400" dirty="0">
                <a:latin typeface="Times New Roman" panose="02020603050405020304" pitchFamily="18" charset="0"/>
                <a:cs typeface="Times New Roman" panose="02020603050405020304" pitchFamily="18" charset="0"/>
              </a:rPr>
              <a:t>Mr. G. S. PUGALENDHI M.E.,</a:t>
            </a:r>
          </a:p>
          <a:p>
            <a:pPr marL="0" lvl="0" indent="0" algn="l" rtl="0">
              <a:lnSpc>
                <a:spcPct val="115000"/>
              </a:lnSpc>
              <a:spcBef>
                <a:spcPts val="0"/>
              </a:spcBef>
              <a:spcAft>
                <a:spcPts val="0"/>
              </a:spcAft>
              <a:buClr>
                <a:schemeClr val="dk1"/>
              </a:buClr>
              <a:buSzPts val="1100"/>
              <a:buFont typeface="Arial"/>
              <a:buNone/>
            </a:pPr>
            <a:r>
              <a:rPr lang="en-IN" sz="2400" dirty="0">
                <a:latin typeface="Times New Roman" panose="02020603050405020304" pitchFamily="18" charset="0"/>
                <a:cs typeface="Times New Roman" panose="02020603050405020304" pitchFamily="18" charset="0"/>
              </a:rPr>
              <a:t>AP, DEPARTMENT OF ARTIFICIAL INTELLIGENCE AND DATA SCIENCE</a:t>
            </a:r>
          </a:p>
        </p:txBody>
      </p:sp>
      <p:sp>
        <p:nvSpPr>
          <p:cNvPr id="4" name="Date Placeholder 3">
            <a:extLst>
              <a:ext uri="{FF2B5EF4-FFF2-40B4-BE49-F238E27FC236}">
                <a16:creationId xmlns:a16="http://schemas.microsoft.com/office/drawing/2014/main" id="{E79E50FA-6038-19A0-5262-2F5888B36635}"/>
              </a:ext>
            </a:extLst>
          </p:cNvPr>
          <p:cNvSpPr>
            <a:spLocks noGrp="1"/>
          </p:cNvSpPr>
          <p:nvPr>
            <p:ph type="dt" sz="half" idx="10"/>
          </p:nvPr>
        </p:nvSpPr>
        <p:spPr/>
        <p:txBody>
          <a:bodyPr/>
          <a:lstStyle/>
          <a:p>
            <a:fld id="{5C295F8C-C60A-484C-8956-26EB89134547}" type="datetime1">
              <a:rPr lang="en-IN" sz="1400" smtClean="0">
                <a:latin typeface="Times New Roman" panose="02020603050405020304" pitchFamily="18" charset="0"/>
                <a:cs typeface="Times New Roman" panose="02020603050405020304" pitchFamily="18" charset="0"/>
              </a:rPr>
              <a:t>28-04-2023</a:t>
            </a:fld>
            <a:endParaRPr lang="en-IN"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F7C46CA0-8286-2534-F0A1-A6263E20F48F}"/>
              </a:ext>
            </a:extLst>
          </p:cNvPr>
          <p:cNvSpPr>
            <a:spLocks noGrp="1"/>
          </p:cNvSpPr>
          <p:nvPr>
            <p:ph type="ftr" sz="quarter" idx="11"/>
          </p:nvPr>
        </p:nvSpPr>
        <p:spPr/>
        <p:txBody>
          <a:bodyPr/>
          <a:lstStyle/>
          <a:p>
            <a:r>
              <a:rPr lang="en-IN" sz="1400" dirty="0">
                <a:latin typeface="Times New Roman" panose="02020603050405020304" pitchFamily="18" charset="0"/>
                <a:cs typeface="Times New Roman" panose="02020603050405020304" pitchFamily="18" charset="0"/>
              </a:rPr>
              <a:t>SKCET / AI &amp; DS</a:t>
            </a:r>
          </a:p>
        </p:txBody>
      </p:sp>
      <p:sp>
        <p:nvSpPr>
          <p:cNvPr id="6" name="Slide Number Placeholder 5">
            <a:extLst>
              <a:ext uri="{FF2B5EF4-FFF2-40B4-BE49-F238E27FC236}">
                <a16:creationId xmlns:a16="http://schemas.microsoft.com/office/drawing/2014/main" id="{20FD51D0-9816-A943-E843-0C8EEF380228}"/>
              </a:ext>
            </a:extLst>
          </p:cNvPr>
          <p:cNvSpPr>
            <a:spLocks noGrp="1"/>
          </p:cNvSpPr>
          <p:nvPr>
            <p:ph type="sldNum" sz="quarter" idx="12"/>
          </p:nvPr>
        </p:nvSpPr>
        <p:spPr/>
        <p:txBody>
          <a:bodyPr/>
          <a:lstStyle/>
          <a:p>
            <a:fld id="{424570A0-3C5D-48CC-A9DB-EDDFA94DE3F8}" type="slidenum">
              <a:rPr lang="en-IN" sz="1400" smtClean="0">
                <a:latin typeface="Times New Roman" panose="02020603050405020304" pitchFamily="18" charset="0"/>
                <a:cs typeface="Times New Roman" panose="02020603050405020304" pitchFamily="18" charset="0"/>
              </a:rPr>
              <a:t>1</a:t>
            </a:fld>
            <a:endParaRPr lang="en-IN" sz="1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7C6FF50-0E9A-5215-2ACE-16019419F525}"/>
              </a:ext>
            </a:extLst>
          </p:cNvPr>
          <p:cNvSpPr txBox="1"/>
          <p:nvPr/>
        </p:nvSpPr>
        <p:spPr>
          <a:xfrm>
            <a:off x="505902" y="3485048"/>
            <a:ext cx="5496247" cy="2666692"/>
          </a:xfrm>
          <a:prstGeom prst="rect">
            <a:avLst/>
          </a:prstGeom>
          <a:noFill/>
        </p:spPr>
        <p:txBody>
          <a:bodyPr wrap="square" rtlCol="0">
            <a:spAutoFit/>
          </a:bodyPr>
          <a:lstStyle/>
          <a:p>
            <a:pPr lvl="0" algn="l" rtl="0">
              <a:lnSpc>
                <a:spcPct val="115000"/>
              </a:lnSpc>
              <a:spcBef>
                <a:spcPts val="0"/>
              </a:spcBef>
              <a:spcAft>
                <a:spcPts val="0"/>
              </a:spcAft>
              <a:buClr>
                <a:schemeClr val="dk1"/>
              </a:buClr>
              <a:buSzPts val="1100"/>
            </a:pPr>
            <a:r>
              <a:rPr lang="en-IN" sz="2400" b="1" dirty="0">
                <a:latin typeface="Times New Roman" panose="02020603050405020304" pitchFamily="18" charset="0"/>
                <a:cs typeface="Times New Roman" panose="02020603050405020304" pitchFamily="18" charset="0"/>
              </a:rPr>
              <a:t>TEAM MEMBERS :</a:t>
            </a:r>
            <a:endParaRPr lang="en-IN" sz="2400" dirty="0">
              <a:latin typeface="Times New Roman" panose="02020603050405020304" pitchFamily="18" charset="0"/>
              <a:cs typeface="Times New Roman" panose="02020603050405020304" pitchFamily="18" charset="0"/>
            </a:endParaRPr>
          </a:p>
          <a:p>
            <a:pPr marL="342900" indent="-342900">
              <a:lnSpc>
                <a:spcPct val="150000"/>
              </a:lnSpc>
              <a:buSzPts val="1100"/>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SATHISH KUMAR M     – 20EUAI034</a:t>
            </a:r>
          </a:p>
          <a:p>
            <a:pPr marL="342900" indent="-342900">
              <a:lnSpc>
                <a:spcPct val="150000"/>
              </a:lnSpc>
              <a:buSzPts val="1100"/>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THARUN S                      – 20EUAI048</a:t>
            </a:r>
            <a:endParaRPr lang="en-IN" sz="2400" b="1" dirty="0">
              <a:latin typeface="Times New Roman" panose="02020603050405020304" pitchFamily="18" charset="0"/>
              <a:cs typeface="Times New Roman" panose="02020603050405020304" pitchFamily="18" charset="0"/>
            </a:endParaRPr>
          </a:p>
          <a:p>
            <a:pPr marL="342900" indent="-342900">
              <a:lnSpc>
                <a:spcPct val="150000"/>
              </a:lnSpc>
              <a:buSzPts val="1100"/>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VARUN S                         – 20EUAI051</a:t>
            </a:r>
          </a:p>
          <a:p>
            <a:pPr marL="342900" indent="-342900">
              <a:lnSpc>
                <a:spcPct val="150000"/>
              </a:lnSpc>
              <a:buSzPts val="1100"/>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VIKASS ARAVIND C V – 20EUAI054</a:t>
            </a:r>
          </a:p>
        </p:txBody>
      </p:sp>
      <p:pic>
        <p:nvPicPr>
          <p:cNvPr id="8" name="Picture 7">
            <a:extLst>
              <a:ext uri="{FF2B5EF4-FFF2-40B4-BE49-F238E27FC236}">
                <a16:creationId xmlns:a16="http://schemas.microsoft.com/office/drawing/2014/main" id="{A5288974-1F44-DB3D-3929-DA3C01532CD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6455" y="469621"/>
            <a:ext cx="872724" cy="858557"/>
          </a:xfrm>
          <a:prstGeom prst="rect">
            <a:avLst/>
          </a:prstGeom>
        </p:spPr>
      </p:pic>
      <p:pic>
        <p:nvPicPr>
          <p:cNvPr id="9" name="Picture 8">
            <a:extLst>
              <a:ext uri="{FF2B5EF4-FFF2-40B4-BE49-F238E27FC236}">
                <a16:creationId xmlns:a16="http://schemas.microsoft.com/office/drawing/2014/main" id="{9195AE9E-5B51-1A4E-0B47-F8D1BF3C748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4340" r="13824"/>
          <a:stretch/>
        </p:blipFill>
        <p:spPr>
          <a:xfrm>
            <a:off x="1767839" y="0"/>
            <a:ext cx="8514081" cy="1656757"/>
          </a:xfrm>
          <a:prstGeom prst="rect">
            <a:avLst/>
          </a:prstGeom>
        </p:spPr>
      </p:pic>
      <p:pic>
        <p:nvPicPr>
          <p:cNvPr id="10" name="Picture 9">
            <a:extLst>
              <a:ext uri="{FF2B5EF4-FFF2-40B4-BE49-F238E27FC236}">
                <a16:creationId xmlns:a16="http://schemas.microsoft.com/office/drawing/2014/main" id="{A200CAA3-9090-FDD5-D231-3B89A34EEC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27344" y="467523"/>
            <a:ext cx="1158754" cy="1158754"/>
          </a:xfrm>
          <a:prstGeom prst="rect">
            <a:avLst/>
          </a:prstGeom>
        </p:spPr>
      </p:pic>
    </p:spTree>
    <p:extLst>
      <p:ext uri="{BB962C8B-B14F-4D97-AF65-F5344CB8AC3E}">
        <p14:creationId xmlns:p14="http://schemas.microsoft.com/office/powerpoint/2010/main" val="37765553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DA82FD-8FC0-3912-4F9C-FC64E16E905B}"/>
              </a:ext>
            </a:extLst>
          </p:cNvPr>
          <p:cNvSpPr>
            <a:spLocks noGrp="1"/>
          </p:cNvSpPr>
          <p:nvPr>
            <p:ph idx="1"/>
          </p:nvPr>
        </p:nvSpPr>
        <p:spPr>
          <a:xfrm>
            <a:off x="737419" y="1179871"/>
            <a:ext cx="10982634" cy="4892747"/>
          </a:xfrm>
        </p:spPr>
        <p:txBody>
          <a:bodyPr>
            <a:noAutofit/>
          </a:bodyPr>
          <a:lstStyle/>
          <a:p>
            <a:pPr indent="0" algn="just">
              <a:lnSpc>
                <a:spcPct val="150000"/>
              </a:lnSpc>
              <a:spcAft>
                <a:spcPts val="800"/>
              </a:spcAft>
              <a:buNone/>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Stock markets can often be one of the highly complex and most volatile places to invest. Statistical analysis of past stock performance and external factors play a major role in the decision to buy or sell stocks. Stock price index forecasting has been a subject of great research for many years, and several algorithms have been proposed to simplify this complex task.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People have been using learning tools from diverse fields such as financial mathematics and machine learning to make trustworthy forecasting on such markets. However, the accuracy of such techniques had not been adequate. </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In order to forecast stocks accurately, it is crucial to understand the context-specific dependence of stock prices on their past values. </a:t>
            </a:r>
            <a:r>
              <a:rPr lang="en-US" sz="2000" dirty="0">
                <a:latin typeface="Times New Roman" panose="02020603050405020304" pitchFamily="18" charset="0"/>
                <a:ea typeface="Calibri" panose="020F0502020204030204" pitchFamily="34" charset="0"/>
                <a:cs typeface="Times New Roman" panose="02020603050405020304" pitchFamily="18" charset="0"/>
              </a:rPr>
              <a:t>O</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ur approach offers superior accuracy as the training increases when it proceeds through the testing period through sliding window method.</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Date Placeholder 3">
            <a:extLst>
              <a:ext uri="{FF2B5EF4-FFF2-40B4-BE49-F238E27FC236}">
                <a16:creationId xmlns:a16="http://schemas.microsoft.com/office/drawing/2014/main" id="{64A8D77B-2C6D-0EA5-7C0C-A2EC1C77EA01}"/>
              </a:ext>
            </a:extLst>
          </p:cNvPr>
          <p:cNvSpPr>
            <a:spLocks noGrp="1"/>
          </p:cNvSpPr>
          <p:nvPr>
            <p:ph type="dt" sz="half" idx="10"/>
          </p:nvPr>
        </p:nvSpPr>
        <p:spPr/>
        <p:txBody>
          <a:bodyPr/>
          <a:lstStyle/>
          <a:p>
            <a:fld id="{8EE34AE9-057F-4DA4-8285-242E23378DD0}" type="datetime1">
              <a:rPr lang="en-IN" sz="1400" smtClean="0">
                <a:latin typeface="Times New Roman" panose="02020603050405020304" pitchFamily="18" charset="0"/>
                <a:cs typeface="Times New Roman" panose="02020603050405020304" pitchFamily="18" charset="0"/>
              </a:rPr>
              <a:t>28-04-2023</a:t>
            </a:fld>
            <a:endParaRPr lang="en-IN" sz="140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AC1D0B74-08DD-6C19-BD08-78E64E817514}"/>
              </a:ext>
            </a:extLst>
          </p:cNvPr>
          <p:cNvSpPr>
            <a:spLocks noGrp="1"/>
          </p:cNvSpPr>
          <p:nvPr>
            <p:ph type="ftr" sz="quarter" idx="11"/>
          </p:nvPr>
        </p:nvSpPr>
        <p:spPr/>
        <p:txBody>
          <a:bodyPr/>
          <a:lstStyle/>
          <a:p>
            <a:r>
              <a:rPr lang="en-IN" sz="1400" dirty="0">
                <a:latin typeface="Times New Roman" panose="02020603050405020304" pitchFamily="18" charset="0"/>
                <a:cs typeface="Times New Roman" panose="02020603050405020304" pitchFamily="18" charset="0"/>
              </a:rPr>
              <a:t>SKCET / AI &amp; DS</a:t>
            </a:r>
          </a:p>
        </p:txBody>
      </p:sp>
      <p:sp>
        <p:nvSpPr>
          <p:cNvPr id="6" name="Slide Number Placeholder 5">
            <a:extLst>
              <a:ext uri="{FF2B5EF4-FFF2-40B4-BE49-F238E27FC236}">
                <a16:creationId xmlns:a16="http://schemas.microsoft.com/office/drawing/2014/main" id="{5667349D-EDB0-1FCF-3B34-A7FFD9D303EB}"/>
              </a:ext>
            </a:extLst>
          </p:cNvPr>
          <p:cNvSpPr>
            <a:spLocks noGrp="1"/>
          </p:cNvSpPr>
          <p:nvPr>
            <p:ph type="sldNum" sz="quarter" idx="12"/>
          </p:nvPr>
        </p:nvSpPr>
        <p:spPr/>
        <p:txBody>
          <a:bodyPr/>
          <a:lstStyle/>
          <a:p>
            <a:fld id="{424570A0-3C5D-48CC-A9DB-EDDFA94DE3F8}" type="slidenum">
              <a:rPr lang="en-IN" sz="1400" smtClean="0">
                <a:latin typeface="Times New Roman" panose="02020603050405020304" pitchFamily="18" charset="0"/>
                <a:cs typeface="Times New Roman" panose="02020603050405020304" pitchFamily="18" charset="0"/>
              </a:rPr>
              <a:t>2</a:t>
            </a:fld>
            <a:endParaRPr lang="en-IN" sz="1400" dirty="0">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3080C124-7DB5-E50F-B3B9-918703DDAAF9}"/>
              </a:ext>
            </a:extLst>
          </p:cNvPr>
          <p:cNvSpPr txBox="1">
            <a:spLocks/>
          </p:cNvSpPr>
          <p:nvPr/>
        </p:nvSpPr>
        <p:spPr>
          <a:xfrm>
            <a:off x="5094339" y="351476"/>
            <a:ext cx="2268794" cy="5807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800" b="1" dirty="0">
                <a:latin typeface="Times New Roman" panose="02020603050405020304" pitchFamily="18" charset="0"/>
                <a:cs typeface="Times New Roman" panose="02020603050405020304" pitchFamily="18" charset="0"/>
              </a:rPr>
              <a:t>ABSTRACT</a:t>
            </a:r>
          </a:p>
        </p:txBody>
      </p:sp>
    </p:spTree>
    <p:extLst>
      <p:ext uri="{BB962C8B-B14F-4D97-AF65-F5344CB8AC3E}">
        <p14:creationId xmlns:p14="http://schemas.microsoft.com/office/powerpoint/2010/main" val="3274396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24488C0-E9D2-6DCE-4E41-954D23995663}"/>
              </a:ext>
            </a:extLst>
          </p:cNvPr>
          <p:cNvSpPr>
            <a:spLocks noGrp="1"/>
          </p:cNvSpPr>
          <p:nvPr>
            <p:ph type="dt" sz="half" idx="10"/>
          </p:nvPr>
        </p:nvSpPr>
        <p:spPr/>
        <p:txBody>
          <a:bodyPr/>
          <a:lstStyle/>
          <a:p>
            <a:fld id="{C7DB477B-E71A-4CFF-BF4C-39E63BDDBD18}" type="datetime1">
              <a:rPr lang="en-IN" smtClean="0"/>
              <a:t>28-04-2023</a:t>
            </a:fld>
            <a:endParaRPr lang="en-IN"/>
          </a:p>
        </p:txBody>
      </p:sp>
      <p:sp>
        <p:nvSpPr>
          <p:cNvPr id="5" name="Footer Placeholder 4">
            <a:extLst>
              <a:ext uri="{FF2B5EF4-FFF2-40B4-BE49-F238E27FC236}">
                <a16:creationId xmlns:a16="http://schemas.microsoft.com/office/drawing/2014/main" id="{C2637B90-85E0-E6CD-AB9B-D1A5C2D4D8A8}"/>
              </a:ext>
            </a:extLst>
          </p:cNvPr>
          <p:cNvSpPr>
            <a:spLocks noGrp="1"/>
          </p:cNvSpPr>
          <p:nvPr>
            <p:ph type="ftr" sz="quarter" idx="11"/>
          </p:nvPr>
        </p:nvSpPr>
        <p:spPr/>
        <p:txBody>
          <a:bodyPr/>
          <a:lstStyle/>
          <a:p>
            <a:r>
              <a:rPr lang="en-IN"/>
              <a:t>SKCET / AI &amp; DS</a:t>
            </a:r>
          </a:p>
        </p:txBody>
      </p:sp>
      <p:sp>
        <p:nvSpPr>
          <p:cNvPr id="6" name="Slide Number Placeholder 5">
            <a:extLst>
              <a:ext uri="{FF2B5EF4-FFF2-40B4-BE49-F238E27FC236}">
                <a16:creationId xmlns:a16="http://schemas.microsoft.com/office/drawing/2014/main" id="{6E26B9CA-A31F-E6AC-DE21-DF1E7D484BB7}"/>
              </a:ext>
            </a:extLst>
          </p:cNvPr>
          <p:cNvSpPr>
            <a:spLocks noGrp="1"/>
          </p:cNvSpPr>
          <p:nvPr>
            <p:ph type="sldNum" sz="quarter" idx="12"/>
          </p:nvPr>
        </p:nvSpPr>
        <p:spPr/>
        <p:txBody>
          <a:bodyPr/>
          <a:lstStyle/>
          <a:p>
            <a:fld id="{424570A0-3C5D-48CC-A9DB-EDDFA94DE3F8}" type="slidenum">
              <a:rPr lang="en-IN" smtClean="0"/>
              <a:t>3</a:t>
            </a:fld>
            <a:endParaRPr lang="en-IN"/>
          </a:p>
        </p:txBody>
      </p:sp>
      <p:sp>
        <p:nvSpPr>
          <p:cNvPr id="7" name="Title 1">
            <a:extLst>
              <a:ext uri="{FF2B5EF4-FFF2-40B4-BE49-F238E27FC236}">
                <a16:creationId xmlns:a16="http://schemas.microsoft.com/office/drawing/2014/main" id="{8F892E68-9FEE-6DFA-ADAC-8FC1A89B33C2}"/>
              </a:ext>
            </a:extLst>
          </p:cNvPr>
          <p:cNvSpPr txBox="1">
            <a:spLocks/>
          </p:cNvSpPr>
          <p:nvPr/>
        </p:nvSpPr>
        <p:spPr>
          <a:xfrm>
            <a:off x="3939048" y="359839"/>
            <a:ext cx="4313903" cy="57866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800" b="1" dirty="0">
                <a:latin typeface="Times New Roman" panose="02020603050405020304" pitchFamily="18" charset="0"/>
                <a:cs typeface="Times New Roman" panose="02020603050405020304" pitchFamily="18" charset="0"/>
              </a:rPr>
              <a:t>PROBLEM STATEMENT</a:t>
            </a:r>
          </a:p>
        </p:txBody>
      </p:sp>
      <p:sp>
        <p:nvSpPr>
          <p:cNvPr id="8" name="Content Placeholder 2">
            <a:extLst>
              <a:ext uri="{FF2B5EF4-FFF2-40B4-BE49-F238E27FC236}">
                <a16:creationId xmlns:a16="http://schemas.microsoft.com/office/drawing/2014/main" id="{58C9277E-EBA8-D4C3-DCDD-5357EAD85CDE}"/>
              </a:ext>
            </a:extLst>
          </p:cNvPr>
          <p:cNvSpPr>
            <a:spLocks noGrp="1"/>
          </p:cNvSpPr>
          <p:nvPr>
            <p:ph idx="1"/>
          </p:nvPr>
        </p:nvSpPr>
        <p:spPr>
          <a:xfrm>
            <a:off x="421667" y="1167821"/>
            <a:ext cx="11348663" cy="4959213"/>
          </a:xfrm>
        </p:spPr>
        <p:txBody>
          <a:bodyPr>
            <a:noAutofit/>
          </a:bodyPr>
          <a:lstStyle/>
          <a:p>
            <a:pPr marL="571500" indent="-342900" algn="just">
              <a:lnSpc>
                <a:spcPct val="150000"/>
              </a:lnSpc>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Stock forecasting is a challenging task in the financial domain, as accurate predictions of stock prices are crucial for making informed investment decisions.</a:t>
            </a:r>
          </a:p>
          <a:p>
            <a:pPr marL="571500" indent="-342900" algn="just">
              <a:lnSpc>
                <a:spcPct val="150000"/>
              </a:lnSpc>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Traditional methods often fall short in capturing the nonlinear patterns and dynamic nature of stock market data, leading to less reliable predictions.</a:t>
            </a:r>
          </a:p>
          <a:p>
            <a:pPr marL="571500" indent="-342900" algn="just">
              <a:lnSpc>
                <a:spcPct val="150000"/>
              </a:lnSpc>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objective is to create a robust and scalable forecasting solution that can handle large volumes of data, adapt to changing market conditions, and provide accurate predictions over different forecasting horizons.</a:t>
            </a:r>
          </a:p>
          <a:p>
            <a:pPr marL="571500" indent="-342900" algn="just">
              <a:lnSpc>
                <a:spcPct val="150000"/>
              </a:lnSpc>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By addressing these challenges and developing a robust forecasting solution, this research aims to contribute to the field of financial forecasting and provide valuable tools for the financial industry.</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85751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94ECF-6BCD-46F3-476B-DA4A4A378A53}"/>
              </a:ext>
            </a:extLst>
          </p:cNvPr>
          <p:cNvSpPr>
            <a:spLocks noGrp="1"/>
          </p:cNvSpPr>
          <p:nvPr>
            <p:ph type="title"/>
          </p:nvPr>
        </p:nvSpPr>
        <p:spPr>
          <a:xfrm>
            <a:off x="4352003" y="342445"/>
            <a:ext cx="3487994" cy="664168"/>
          </a:xfrm>
        </p:spPr>
        <p:txBody>
          <a:bodyPr>
            <a:normAutofit/>
          </a:bodyPr>
          <a:lstStyle/>
          <a:p>
            <a:r>
              <a:rPr lang="en-IN" sz="2800" b="1" dirty="0">
                <a:latin typeface="Times New Roman" panose="02020603050405020304" pitchFamily="18" charset="0"/>
                <a:cs typeface="Times New Roman" panose="02020603050405020304" pitchFamily="18" charset="0"/>
              </a:rPr>
              <a:t>EXISTING SYSTEM</a:t>
            </a:r>
          </a:p>
        </p:txBody>
      </p:sp>
      <p:sp>
        <p:nvSpPr>
          <p:cNvPr id="3" name="Content Placeholder 2">
            <a:extLst>
              <a:ext uri="{FF2B5EF4-FFF2-40B4-BE49-F238E27FC236}">
                <a16:creationId xmlns:a16="http://schemas.microsoft.com/office/drawing/2014/main" id="{17DEEA9E-0CAB-7E22-1865-97F95E2E81A7}"/>
              </a:ext>
            </a:extLst>
          </p:cNvPr>
          <p:cNvSpPr>
            <a:spLocks noGrp="1"/>
          </p:cNvSpPr>
          <p:nvPr>
            <p:ph idx="1"/>
          </p:nvPr>
        </p:nvSpPr>
        <p:spPr>
          <a:xfrm>
            <a:off x="234746" y="1334609"/>
            <a:ext cx="6097228" cy="4939173"/>
          </a:xfrm>
        </p:spPr>
        <p:txBody>
          <a:bodyPr>
            <a:normAutofit fontScale="92500" lnSpcReduction="20000"/>
          </a:bodyPr>
          <a:lstStyle/>
          <a:p>
            <a:pPr marL="0" indent="0" algn="just">
              <a:lnSpc>
                <a:spcPct val="200000"/>
              </a:lnSpc>
              <a:buNone/>
            </a:pPr>
            <a:r>
              <a:rPr lang="en-US" sz="2600" b="1" dirty="0">
                <a:latin typeface="Times New Roman" panose="02020603050405020304" pitchFamily="18" charset="0"/>
                <a:cs typeface="Times New Roman" panose="02020603050405020304" pitchFamily="18" charset="0"/>
              </a:rPr>
              <a:t>Existing Algorithms :</a:t>
            </a:r>
          </a:p>
          <a:p>
            <a:pPr lvl="1" algn="just">
              <a:lnSpc>
                <a:spcPct val="200000"/>
              </a:lnSpc>
            </a:pPr>
            <a:r>
              <a:rPr lang="en-IN" sz="2200" dirty="0">
                <a:latin typeface="Times New Roman" panose="02020603050405020304" pitchFamily="18" charset="0"/>
                <a:cs typeface="Times New Roman" panose="02020603050405020304" pitchFamily="18" charset="0"/>
              </a:rPr>
              <a:t>Autoregressive Integrated Moving Average (ARIMA)</a:t>
            </a:r>
          </a:p>
          <a:p>
            <a:pPr lvl="1" algn="just">
              <a:lnSpc>
                <a:spcPct val="200000"/>
              </a:lnSpc>
            </a:pPr>
            <a:r>
              <a:rPr lang="en-US" sz="2200" dirty="0">
                <a:latin typeface="Times New Roman" panose="02020603050405020304" pitchFamily="18" charset="0"/>
                <a:cs typeface="Times New Roman" panose="02020603050405020304" pitchFamily="18" charset="0"/>
              </a:rPr>
              <a:t>Long Short-Term Memory Networks (LSTM)</a:t>
            </a:r>
          </a:p>
          <a:p>
            <a:pPr lvl="1" algn="just">
              <a:lnSpc>
                <a:spcPct val="200000"/>
              </a:lnSpc>
            </a:pPr>
            <a:r>
              <a:rPr lang="en-US" sz="2200" dirty="0">
                <a:latin typeface="Times New Roman" panose="02020603050405020304" pitchFamily="18" charset="0"/>
                <a:cs typeface="Times New Roman" panose="02020603050405020304" pitchFamily="18" charset="0"/>
              </a:rPr>
              <a:t>Convolutional Neural Networks (CNN)</a:t>
            </a:r>
          </a:p>
          <a:p>
            <a:pPr lvl="1" algn="just">
              <a:lnSpc>
                <a:spcPct val="200000"/>
              </a:lnSpc>
            </a:pPr>
            <a:r>
              <a:rPr lang="en-US" sz="2200" dirty="0">
                <a:latin typeface="Times New Roman" panose="02020603050405020304" pitchFamily="18" charset="0"/>
                <a:cs typeface="Times New Roman" panose="02020603050405020304" pitchFamily="18" charset="0"/>
              </a:rPr>
              <a:t>Support Vector Machines (SVM)</a:t>
            </a:r>
          </a:p>
          <a:p>
            <a:pPr lvl="1" algn="just">
              <a:lnSpc>
                <a:spcPct val="200000"/>
              </a:lnSpc>
            </a:pPr>
            <a:r>
              <a:rPr lang="en-US" sz="2200" dirty="0">
                <a:latin typeface="Times New Roman" panose="02020603050405020304" pitchFamily="18" charset="0"/>
                <a:cs typeface="Times New Roman" panose="02020603050405020304" pitchFamily="18" charset="0"/>
              </a:rPr>
              <a:t>Random Forest (RF)</a:t>
            </a:r>
          </a:p>
          <a:p>
            <a:pPr lvl="1" algn="just">
              <a:lnSpc>
                <a:spcPct val="200000"/>
              </a:lnSpc>
            </a:pPr>
            <a:r>
              <a:rPr lang="en-US" sz="2200" dirty="0">
                <a:latin typeface="Times New Roman" panose="02020603050405020304" pitchFamily="18" charset="0"/>
                <a:cs typeface="Times New Roman" panose="02020603050405020304" pitchFamily="18" charset="0"/>
              </a:rPr>
              <a:t>Gaussian Processes (GPs)</a:t>
            </a:r>
          </a:p>
        </p:txBody>
      </p:sp>
      <p:sp>
        <p:nvSpPr>
          <p:cNvPr id="4" name="Date Placeholder 3">
            <a:extLst>
              <a:ext uri="{FF2B5EF4-FFF2-40B4-BE49-F238E27FC236}">
                <a16:creationId xmlns:a16="http://schemas.microsoft.com/office/drawing/2014/main" id="{A443F132-83B0-7663-A56A-D1FADB5C6D7C}"/>
              </a:ext>
            </a:extLst>
          </p:cNvPr>
          <p:cNvSpPr>
            <a:spLocks noGrp="1"/>
          </p:cNvSpPr>
          <p:nvPr>
            <p:ph type="dt" sz="half" idx="10"/>
          </p:nvPr>
        </p:nvSpPr>
        <p:spPr/>
        <p:txBody>
          <a:bodyPr/>
          <a:lstStyle/>
          <a:p>
            <a:fld id="{0ACFC8DB-305B-4791-B800-E5E79026B07A}" type="datetime1">
              <a:rPr lang="en-IN" sz="1400" smtClean="0">
                <a:latin typeface="Times New Roman" panose="02020603050405020304" pitchFamily="18" charset="0"/>
                <a:cs typeface="Times New Roman" panose="02020603050405020304" pitchFamily="18" charset="0"/>
              </a:rPr>
              <a:t>28-04-2023</a:t>
            </a:fld>
            <a:endParaRPr lang="en-IN" sz="140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1BC02D45-8BF7-69EE-C69B-7AD39B9FE025}"/>
              </a:ext>
            </a:extLst>
          </p:cNvPr>
          <p:cNvSpPr>
            <a:spLocks noGrp="1"/>
          </p:cNvSpPr>
          <p:nvPr>
            <p:ph type="ftr" sz="quarter" idx="11"/>
          </p:nvPr>
        </p:nvSpPr>
        <p:spPr/>
        <p:txBody>
          <a:bodyPr/>
          <a:lstStyle/>
          <a:p>
            <a:r>
              <a:rPr lang="en-IN" sz="1400" dirty="0">
                <a:latin typeface="Times New Roman" panose="02020603050405020304" pitchFamily="18" charset="0"/>
                <a:cs typeface="Times New Roman" panose="02020603050405020304" pitchFamily="18" charset="0"/>
              </a:rPr>
              <a:t>SKCET / AI &amp; DS</a:t>
            </a:r>
          </a:p>
        </p:txBody>
      </p:sp>
      <p:sp>
        <p:nvSpPr>
          <p:cNvPr id="6" name="Slide Number Placeholder 5">
            <a:extLst>
              <a:ext uri="{FF2B5EF4-FFF2-40B4-BE49-F238E27FC236}">
                <a16:creationId xmlns:a16="http://schemas.microsoft.com/office/drawing/2014/main" id="{BDE3F069-065E-A272-5D19-8D06DA880CEC}"/>
              </a:ext>
            </a:extLst>
          </p:cNvPr>
          <p:cNvSpPr>
            <a:spLocks noGrp="1"/>
          </p:cNvSpPr>
          <p:nvPr>
            <p:ph type="sldNum" sz="quarter" idx="12"/>
          </p:nvPr>
        </p:nvSpPr>
        <p:spPr/>
        <p:txBody>
          <a:bodyPr/>
          <a:lstStyle/>
          <a:p>
            <a:fld id="{424570A0-3C5D-48CC-A9DB-EDDFA94DE3F8}" type="slidenum">
              <a:rPr lang="en-IN" sz="1400" smtClean="0">
                <a:latin typeface="Times New Roman" panose="02020603050405020304" pitchFamily="18" charset="0"/>
                <a:cs typeface="Times New Roman" panose="02020603050405020304" pitchFamily="18" charset="0"/>
              </a:rPr>
              <a:t>4</a:t>
            </a:fld>
            <a:endParaRPr lang="en-IN" sz="1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DB66CE9F-08C1-F4D3-91C7-B5576BEB345E}"/>
              </a:ext>
            </a:extLst>
          </p:cNvPr>
          <p:cNvSpPr txBox="1"/>
          <p:nvPr/>
        </p:nvSpPr>
        <p:spPr>
          <a:xfrm>
            <a:off x="6843251" y="1334609"/>
            <a:ext cx="4689987" cy="4323620"/>
          </a:xfrm>
          <a:prstGeom prst="rect">
            <a:avLst/>
          </a:prstGeom>
          <a:noFill/>
        </p:spPr>
        <p:txBody>
          <a:bodyPr wrap="square" rtlCol="0">
            <a:spAutoFit/>
          </a:bodyPr>
          <a:lstStyle/>
          <a:p>
            <a:pPr algn="just">
              <a:lnSpc>
                <a:spcPct val="200000"/>
              </a:lnSpc>
            </a:pPr>
            <a:r>
              <a:rPr lang="en-IN" sz="2400" b="1" dirty="0">
                <a:latin typeface="Times New Roman" panose="02020603050405020304" pitchFamily="18" charset="0"/>
                <a:cs typeface="Times New Roman" panose="02020603050405020304" pitchFamily="18" charset="0"/>
              </a:rPr>
              <a:t>Disadvantages :</a:t>
            </a:r>
          </a:p>
          <a:p>
            <a:pPr marL="800100" lvl="1" indent="-342900" algn="just">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Data Dependency</a:t>
            </a:r>
          </a:p>
          <a:p>
            <a:pPr marL="800100" lvl="1" indent="-342900" algn="just">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Limited Interpretability</a:t>
            </a:r>
          </a:p>
          <a:p>
            <a:pPr marL="800100" lvl="1" indent="-342900" algn="just">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Overfitting and Generalization</a:t>
            </a:r>
          </a:p>
          <a:p>
            <a:pPr marL="800100" lvl="1" indent="-342900" algn="just">
              <a:lnSpc>
                <a:spcPct val="200000"/>
              </a:lnSpc>
              <a:buFont typeface="Arial" panose="020B0604020202020204" pitchFamily="34" charset="0"/>
              <a:buChar char="•"/>
            </a:pPr>
            <a:r>
              <a:rPr lang="en-IN" sz="2000">
                <a:latin typeface="Times New Roman" panose="02020603050405020304" pitchFamily="18" charset="0"/>
                <a:cs typeface="Times New Roman" panose="02020603050405020304" pitchFamily="18" charset="0"/>
              </a:rPr>
              <a:t>Computational Complexity</a:t>
            </a:r>
            <a:endParaRPr lang="en-IN" sz="2000" dirty="0">
              <a:latin typeface="Times New Roman" panose="02020603050405020304" pitchFamily="18" charset="0"/>
              <a:cs typeface="Times New Roman" panose="02020603050405020304" pitchFamily="18" charset="0"/>
            </a:endParaRPr>
          </a:p>
          <a:p>
            <a:pPr algn="just">
              <a:lnSpc>
                <a:spcPct val="200000"/>
              </a:lnSpc>
            </a:pPr>
            <a:endParaRPr lang="en-IN" dirty="0"/>
          </a:p>
          <a:p>
            <a:pPr algn="just">
              <a:lnSpc>
                <a:spcPct val="200000"/>
              </a:lnSpc>
            </a:pPr>
            <a:endParaRPr lang="en-IN" dirty="0"/>
          </a:p>
        </p:txBody>
      </p:sp>
    </p:spTree>
    <p:extLst>
      <p:ext uri="{BB962C8B-B14F-4D97-AF65-F5344CB8AC3E}">
        <p14:creationId xmlns:p14="http://schemas.microsoft.com/office/powerpoint/2010/main" val="13017589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3758E86-B5B6-FF00-B70E-CF70A7B51FE0}"/>
              </a:ext>
            </a:extLst>
          </p:cNvPr>
          <p:cNvSpPr txBox="1">
            <a:spLocks/>
          </p:cNvSpPr>
          <p:nvPr/>
        </p:nvSpPr>
        <p:spPr>
          <a:xfrm>
            <a:off x="4248764" y="343069"/>
            <a:ext cx="3694471" cy="49790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800" b="1" dirty="0">
                <a:latin typeface="Times New Roman" panose="02020603050405020304" pitchFamily="18" charset="0"/>
                <a:cs typeface="Times New Roman" panose="02020603050405020304" pitchFamily="18" charset="0"/>
              </a:rPr>
              <a:t>PROPOSED SYSTEM</a:t>
            </a:r>
          </a:p>
        </p:txBody>
      </p:sp>
      <p:sp>
        <p:nvSpPr>
          <p:cNvPr id="4" name="Date Placeholder 3">
            <a:extLst>
              <a:ext uri="{FF2B5EF4-FFF2-40B4-BE49-F238E27FC236}">
                <a16:creationId xmlns:a16="http://schemas.microsoft.com/office/drawing/2014/main" id="{A8E59D33-2279-97F6-C6AF-676073C03884}"/>
              </a:ext>
            </a:extLst>
          </p:cNvPr>
          <p:cNvSpPr>
            <a:spLocks noGrp="1"/>
          </p:cNvSpPr>
          <p:nvPr>
            <p:ph type="dt" sz="half" idx="10"/>
          </p:nvPr>
        </p:nvSpPr>
        <p:spPr/>
        <p:txBody>
          <a:bodyPr/>
          <a:lstStyle/>
          <a:p>
            <a:fld id="{D80E2A4F-E9A4-456B-BF17-40BA15497FF2}" type="datetime1">
              <a:rPr lang="en-IN" sz="1400" smtClean="0">
                <a:latin typeface="Times New Roman" panose="02020603050405020304" pitchFamily="18" charset="0"/>
                <a:cs typeface="Times New Roman" panose="02020603050405020304" pitchFamily="18" charset="0"/>
              </a:rPr>
              <a:t>28-04-2023</a:t>
            </a:fld>
            <a:endParaRPr lang="en-IN" sz="140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AC42C759-0460-698A-520E-6A6B561AC2F3}"/>
              </a:ext>
            </a:extLst>
          </p:cNvPr>
          <p:cNvSpPr>
            <a:spLocks noGrp="1"/>
          </p:cNvSpPr>
          <p:nvPr>
            <p:ph type="ftr" sz="quarter" idx="11"/>
          </p:nvPr>
        </p:nvSpPr>
        <p:spPr/>
        <p:txBody>
          <a:bodyPr/>
          <a:lstStyle/>
          <a:p>
            <a:r>
              <a:rPr lang="en-IN" sz="1400" dirty="0">
                <a:latin typeface="Times New Roman" panose="02020603050405020304" pitchFamily="18" charset="0"/>
                <a:cs typeface="Times New Roman" panose="02020603050405020304" pitchFamily="18" charset="0"/>
              </a:rPr>
              <a:t>SKCET / AI &amp; DS</a:t>
            </a:r>
          </a:p>
        </p:txBody>
      </p:sp>
      <p:sp>
        <p:nvSpPr>
          <p:cNvPr id="6" name="Slide Number Placeholder 5">
            <a:extLst>
              <a:ext uri="{FF2B5EF4-FFF2-40B4-BE49-F238E27FC236}">
                <a16:creationId xmlns:a16="http://schemas.microsoft.com/office/drawing/2014/main" id="{075C4560-7C93-6B20-EBC1-A8CC4A53AC7F}"/>
              </a:ext>
            </a:extLst>
          </p:cNvPr>
          <p:cNvSpPr>
            <a:spLocks noGrp="1"/>
          </p:cNvSpPr>
          <p:nvPr>
            <p:ph type="sldNum" sz="quarter" idx="12"/>
          </p:nvPr>
        </p:nvSpPr>
        <p:spPr/>
        <p:txBody>
          <a:bodyPr/>
          <a:lstStyle/>
          <a:p>
            <a:fld id="{424570A0-3C5D-48CC-A9DB-EDDFA94DE3F8}" type="slidenum">
              <a:rPr lang="en-IN" sz="1400" smtClean="0">
                <a:latin typeface="Times New Roman" panose="02020603050405020304" pitchFamily="18" charset="0"/>
                <a:cs typeface="Times New Roman" panose="02020603050405020304" pitchFamily="18" charset="0"/>
              </a:rPr>
              <a:t>5</a:t>
            </a:fld>
            <a:endParaRPr lang="en-IN" sz="14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C75B7098-B00E-CFCC-26FD-E7DA218F2F40}"/>
              </a:ext>
            </a:extLst>
          </p:cNvPr>
          <p:cNvSpPr txBox="1"/>
          <p:nvPr/>
        </p:nvSpPr>
        <p:spPr>
          <a:xfrm>
            <a:off x="6543367" y="1285450"/>
            <a:ext cx="5225845" cy="4385175"/>
          </a:xfrm>
          <a:prstGeom prst="rect">
            <a:avLst/>
          </a:prstGeom>
          <a:noFill/>
        </p:spPr>
        <p:txBody>
          <a:bodyPr wrap="square" rtlCol="0">
            <a:spAutoFit/>
          </a:bodyPr>
          <a:lstStyle/>
          <a:p>
            <a:pPr algn="just">
              <a:lnSpc>
                <a:spcPct val="200000"/>
              </a:lnSpc>
            </a:pPr>
            <a:r>
              <a:rPr lang="en-IN" sz="2400" b="1" dirty="0">
                <a:latin typeface="Times New Roman" panose="02020603050405020304" pitchFamily="18" charset="0"/>
                <a:cs typeface="Times New Roman" panose="02020603050405020304" pitchFamily="18" charset="0"/>
              </a:rPr>
              <a:t>Advantages :</a:t>
            </a:r>
          </a:p>
          <a:p>
            <a:pPr marL="800100" lvl="1" indent="-342900" algn="just">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Accurate Forecasting</a:t>
            </a:r>
          </a:p>
          <a:p>
            <a:pPr marL="800100" lvl="1" indent="-342900" algn="just">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Automation and Speed</a:t>
            </a:r>
          </a:p>
          <a:p>
            <a:pPr marL="800100" lvl="1" indent="-342900" algn="just">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Adapting to Changing Market Conditions</a:t>
            </a:r>
          </a:p>
          <a:p>
            <a:pPr marL="800100" lvl="1" indent="-342900" algn="just">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Diverse Model Choices</a:t>
            </a:r>
          </a:p>
          <a:p>
            <a:pPr marL="800100" lvl="1" indent="-342900" algn="just">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Reduced Human Bias</a:t>
            </a:r>
            <a:endParaRPr lang="en-IN" dirty="0"/>
          </a:p>
          <a:p>
            <a:pPr algn="just">
              <a:lnSpc>
                <a:spcPct val="200000"/>
              </a:lnSpc>
            </a:pPr>
            <a:endParaRPr lang="en-IN" dirty="0"/>
          </a:p>
        </p:txBody>
      </p:sp>
      <p:sp>
        <p:nvSpPr>
          <p:cNvPr id="7" name="Content Placeholder 2">
            <a:extLst>
              <a:ext uri="{FF2B5EF4-FFF2-40B4-BE49-F238E27FC236}">
                <a16:creationId xmlns:a16="http://schemas.microsoft.com/office/drawing/2014/main" id="{0E6B66A7-8C10-335B-3C33-D585033AF39A}"/>
              </a:ext>
            </a:extLst>
          </p:cNvPr>
          <p:cNvSpPr txBox="1">
            <a:spLocks/>
          </p:cNvSpPr>
          <p:nvPr/>
        </p:nvSpPr>
        <p:spPr>
          <a:xfrm>
            <a:off x="234746" y="1285450"/>
            <a:ext cx="5861254" cy="469374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200000"/>
              </a:lnSpc>
              <a:buFont typeface="Arial" panose="020B0604020202020204" pitchFamily="34" charset="0"/>
              <a:buNone/>
            </a:pPr>
            <a:r>
              <a:rPr lang="en-US" sz="2400" b="1" dirty="0">
                <a:latin typeface="Times New Roman" panose="02020603050405020304" pitchFamily="18" charset="0"/>
                <a:cs typeface="Times New Roman" panose="02020603050405020304" pitchFamily="18" charset="0"/>
              </a:rPr>
              <a:t>Proposed Algorithms :</a:t>
            </a:r>
          </a:p>
          <a:p>
            <a:pPr lvl="1" algn="just">
              <a:lnSpc>
                <a:spcPct val="200000"/>
              </a:lnSpc>
            </a:pPr>
            <a:r>
              <a:rPr lang="en-US" sz="2000" dirty="0">
                <a:latin typeface="Times New Roman" panose="02020603050405020304" pitchFamily="18" charset="0"/>
                <a:cs typeface="Times New Roman" panose="02020603050405020304" pitchFamily="18" charset="0"/>
              </a:rPr>
              <a:t>Recurrent Neural Networks (RNN)</a:t>
            </a:r>
          </a:p>
          <a:p>
            <a:pPr lvl="1" algn="just">
              <a:lnSpc>
                <a:spcPct val="200000"/>
              </a:lnSpc>
            </a:pPr>
            <a:r>
              <a:rPr lang="en-US" sz="2000" dirty="0">
                <a:latin typeface="Times New Roman" panose="02020603050405020304" pitchFamily="18" charset="0"/>
                <a:cs typeface="Times New Roman" panose="02020603050405020304" pitchFamily="18" charset="0"/>
              </a:rPr>
              <a:t>Long Short-Term Memory Networks (LSTM)</a:t>
            </a:r>
          </a:p>
          <a:p>
            <a:pPr lvl="1" algn="just">
              <a:lnSpc>
                <a:spcPct val="200000"/>
              </a:lnSpc>
            </a:pPr>
            <a:r>
              <a:rPr lang="en-US" sz="2000" dirty="0">
                <a:latin typeface="Times New Roman" panose="02020603050405020304" pitchFamily="18" charset="0"/>
                <a:cs typeface="Times New Roman" panose="02020603050405020304" pitchFamily="18" charset="0"/>
              </a:rPr>
              <a:t>Bi-directional Long Short-Term Memory Networks (Bi-LSTM)</a:t>
            </a:r>
          </a:p>
          <a:p>
            <a:pPr lvl="1" algn="just">
              <a:lnSpc>
                <a:spcPct val="200000"/>
              </a:lnSpc>
            </a:pPr>
            <a:r>
              <a:rPr lang="en-US" sz="2000" dirty="0" err="1">
                <a:latin typeface="Times New Roman" panose="02020603050405020304" pitchFamily="18" charset="0"/>
                <a:cs typeface="Times New Roman" panose="02020603050405020304" pitchFamily="18" charset="0"/>
              </a:rPr>
              <a:t>FBProphet</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22290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DE112B14-0C43-ACAB-2D3B-A1720B2B4169}"/>
              </a:ext>
            </a:extLst>
          </p:cNvPr>
          <p:cNvSpPr>
            <a:spLocks noGrp="1"/>
          </p:cNvSpPr>
          <p:nvPr>
            <p:ph type="dt" sz="half" idx="10"/>
          </p:nvPr>
        </p:nvSpPr>
        <p:spPr/>
        <p:txBody>
          <a:bodyPr/>
          <a:lstStyle/>
          <a:p>
            <a:fld id="{580A08EF-9594-47DE-8E4D-5920A4F4BB6D}" type="datetime1">
              <a:rPr lang="en-IN" sz="1400" smtClean="0">
                <a:latin typeface="Times New Roman" panose="02020603050405020304" pitchFamily="18" charset="0"/>
                <a:cs typeface="Times New Roman" panose="02020603050405020304" pitchFamily="18" charset="0"/>
              </a:rPr>
              <a:t>28-04-2023</a:t>
            </a:fld>
            <a:endParaRPr lang="en-IN"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7DB957B5-6277-5CAF-FDD6-DF7974E8FE4F}"/>
              </a:ext>
            </a:extLst>
          </p:cNvPr>
          <p:cNvSpPr>
            <a:spLocks noGrp="1"/>
          </p:cNvSpPr>
          <p:nvPr>
            <p:ph type="ftr" sz="quarter" idx="11"/>
          </p:nvPr>
        </p:nvSpPr>
        <p:spPr/>
        <p:txBody>
          <a:bodyPr/>
          <a:lstStyle/>
          <a:p>
            <a:r>
              <a:rPr lang="en-IN" sz="1400" dirty="0">
                <a:latin typeface="Times New Roman" panose="02020603050405020304" pitchFamily="18" charset="0"/>
                <a:cs typeface="Times New Roman" panose="02020603050405020304" pitchFamily="18" charset="0"/>
              </a:rPr>
              <a:t>SKCET / AI &amp; DS</a:t>
            </a:r>
          </a:p>
        </p:txBody>
      </p:sp>
      <p:sp>
        <p:nvSpPr>
          <p:cNvPr id="7" name="Slide Number Placeholder 6">
            <a:extLst>
              <a:ext uri="{FF2B5EF4-FFF2-40B4-BE49-F238E27FC236}">
                <a16:creationId xmlns:a16="http://schemas.microsoft.com/office/drawing/2014/main" id="{55051FC3-994F-052D-64C4-35834F6CEDED}"/>
              </a:ext>
            </a:extLst>
          </p:cNvPr>
          <p:cNvSpPr>
            <a:spLocks noGrp="1"/>
          </p:cNvSpPr>
          <p:nvPr>
            <p:ph type="sldNum" sz="quarter" idx="12"/>
          </p:nvPr>
        </p:nvSpPr>
        <p:spPr/>
        <p:txBody>
          <a:bodyPr/>
          <a:lstStyle/>
          <a:p>
            <a:fld id="{424570A0-3C5D-48CC-A9DB-EDDFA94DE3F8}" type="slidenum">
              <a:rPr lang="en-IN" sz="1400" smtClean="0">
                <a:latin typeface="Times New Roman" panose="02020603050405020304" pitchFamily="18" charset="0"/>
                <a:cs typeface="Times New Roman" panose="02020603050405020304" pitchFamily="18" charset="0"/>
              </a:rPr>
              <a:t>6</a:t>
            </a:fld>
            <a:endParaRPr lang="en-IN" sz="1400" dirty="0">
              <a:latin typeface="Times New Roman" panose="02020603050405020304" pitchFamily="18" charset="0"/>
              <a:cs typeface="Times New Roman" panose="02020603050405020304" pitchFamily="18" charset="0"/>
            </a:endParaRPr>
          </a:p>
        </p:txBody>
      </p:sp>
      <p:graphicFrame>
        <p:nvGraphicFramePr>
          <p:cNvPr id="10" name="Table 9">
            <a:extLst>
              <a:ext uri="{FF2B5EF4-FFF2-40B4-BE49-F238E27FC236}">
                <a16:creationId xmlns:a16="http://schemas.microsoft.com/office/drawing/2014/main" id="{D25F3B59-81D7-0B16-3397-4EB4C50F22C5}"/>
              </a:ext>
            </a:extLst>
          </p:cNvPr>
          <p:cNvGraphicFramePr>
            <a:graphicFrameLocks noGrp="1"/>
          </p:cNvGraphicFramePr>
          <p:nvPr>
            <p:extLst>
              <p:ext uri="{D42A27DB-BD31-4B8C-83A1-F6EECF244321}">
                <p14:modId xmlns:p14="http://schemas.microsoft.com/office/powerpoint/2010/main" val="3663298429"/>
              </p:ext>
            </p:extLst>
          </p:nvPr>
        </p:nvGraphicFramePr>
        <p:xfrm>
          <a:off x="698090" y="1130711"/>
          <a:ext cx="10874479" cy="5117237"/>
        </p:xfrm>
        <a:graphic>
          <a:graphicData uri="http://schemas.openxmlformats.org/drawingml/2006/table">
            <a:tbl>
              <a:tblPr firstRow="1" bandRow="1"/>
              <a:tblGrid>
                <a:gridCol w="831868">
                  <a:extLst>
                    <a:ext uri="{9D8B030D-6E8A-4147-A177-3AD203B41FA5}">
                      <a16:colId xmlns:a16="http://schemas.microsoft.com/office/drawing/2014/main" val="2074385949"/>
                    </a:ext>
                  </a:extLst>
                </a:gridCol>
                <a:gridCol w="2971228">
                  <a:extLst>
                    <a:ext uri="{9D8B030D-6E8A-4147-A177-3AD203B41FA5}">
                      <a16:colId xmlns:a16="http://schemas.microsoft.com/office/drawing/2014/main" val="1483151133"/>
                    </a:ext>
                  </a:extLst>
                </a:gridCol>
                <a:gridCol w="2505686">
                  <a:extLst>
                    <a:ext uri="{9D8B030D-6E8A-4147-A177-3AD203B41FA5}">
                      <a16:colId xmlns:a16="http://schemas.microsoft.com/office/drawing/2014/main" val="1569449949"/>
                    </a:ext>
                  </a:extLst>
                </a:gridCol>
                <a:gridCol w="2396744">
                  <a:extLst>
                    <a:ext uri="{9D8B030D-6E8A-4147-A177-3AD203B41FA5}">
                      <a16:colId xmlns:a16="http://schemas.microsoft.com/office/drawing/2014/main" val="1472027631"/>
                    </a:ext>
                  </a:extLst>
                </a:gridCol>
                <a:gridCol w="2168953">
                  <a:extLst>
                    <a:ext uri="{9D8B030D-6E8A-4147-A177-3AD203B41FA5}">
                      <a16:colId xmlns:a16="http://schemas.microsoft.com/office/drawing/2014/main" val="411709693"/>
                    </a:ext>
                  </a:extLst>
                </a:gridCol>
              </a:tblGrid>
              <a:tr h="599766">
                <a:tc>
                  <a:txBody>
                    <a:bodyPr/>
                    <a:lstStyle/>
                    <a:p>
                      <a:pPr algn="ctr"/>
                      <a:r>
                        <a:rPr lang="en-IN" sz="1800" b="1" dirty="0">
                          <a:latin typeface="Times New Roman" panose="02020603050405020304" pitchFamily="18" charset="0"/>
                          <a:cs typeface="Times New Roman" panose="02020603050405020304" pitchFamily="18" charset="0"/>
                        </a:rPr>
                        <a:t>S.No</a:t>
                      </a:r>
                    </a:p>
                  </a:txBody>
                  <a:tcPr/>
                </a:tc>
                <a:tc>
                  <a:txBody>
                    <a:bodyPr/>
                    <a:lstStyle/>
                    <a:p>
                      <a:pPr algn="ctr"/>
                      <a:r>
                        <a:rPr lang="en-IN" sz="1800" b="1" dirty="0">
                          <a:latin typeface="Times New Roman" panose="02020603050405020304" pitchFamily="18" charset="0"/>
                          <a:cs typeface="Times New Roman" panose="02020603050405020304" pitchFamily="18" charset="0"/>
                        </a:rPr>
                        <a:t>TITLE</a:t>
                      </a:r>
                    </a:p>
                  </a:txBody>
                  <a:tcPr/>
                </a:tc>
                <a:tc>
                  <a:txBody>
                    <a:bodyPr/>
                    <a:lstStyle/>
                    <a:p>
                      <a:pPr algn="ctr"/>
                      <a:r>
                        <a:rPr lang="en-IN" sz="1800" b="1" dirty="0">
                          <a:latin typeface="Times New Roman" panose="02020603050405020304" pitchFamily="18" charset="0"/>
                          <a:cs typeface="Times New Roman" panose="02020603050405020304" pitchFamily="18" charset="0"/>
                        </a:rPr>
                        <a:t>ALGORITHM USED</a:t>
                      </a:r>
                    </a:p>
                  </a:txBody>
                  <a:tcPr/>
                </a:tc>
                <a:tc>
                  <a:txBody>
                    <a:bodyPr/>
                    <a:lstStyle/>
                    <a:p>
                      <a:pPr algn="ctr"/>
                      <a:r>
                        <a:rPr lang="en-IN" sz="1800" b="1" dirty="0">
                          <a:latin typeface="Times New Roman" panose="02020603050405020304" pitchFamily="18" charset="0"/>
                          <a:cs typeface="Times New Roman" panose="02020603050405020304" pitchFamily="18" charset="0"/>
                        </a:rPr>
                        <a:t>ADVANTAGES</a:t>
                      </a:r>
                    </a:p>
                  </a:txBody>
                  <a:tcPr/>
                </a:tc>
                <a:tc>
                  <a:txBody>
                    <a:bodyPr/>
                    <a:lstStyle/>
                    <a:p>
                      <a:pPr algn="ctr"/>
                      <a:r>
                        <a:rPr lang="en-IN" sz="1800" b="1" dirty="0">
                          <a:latin typeface="Times New Roman" panose="02020603050405020304" pitchFamily="18" charset="0"/>
                          <a:cs typeface="Times New Roman" panose="02020603050405020304" pitchFamily="18" charset="0"/>
                        </a:rPr>
                        <a:t>DISADVANTAGES</a:t>
                      </a:r>
                    </a:p>
                  </a:txBody>
                  <a:tcPr/>
                </a:tc>
                <a:extLst>
                  <a:ext uri="{0D108BD9-81ED-4DB2-BD59-A6C34878D82A}">
                    <a16:rowId xmlns:a16="http://schemas.microsoft.com/office/drawing/2014/main" val="1101831210"/>
                  </a:ext>
                </a:extLst>
              </a:tr>
              <a:tr h="1538042">
                <a:tc>
                  <a:txBody>
                    <a:bodyPr/>
                    <a:lstStyle/>
                    <a:p>
                      <a:pPr algn="just"/>
                      <a:r>
                        <a:rPr lang="en-IN" sz="1800" b="1" dirty="0">
                          <a:latin typeface="Times New Roman" panose="02020603050405020304" pitchFamily="18" charset="0"/>
                          <a:cs typeface="Times New Roman" panose="02020603050405020304" pitchFamily="18" charset="0"/>
                        </a:rPr>
                        <a:t>1</a:t>
                      </a:r>
                    </a:p>
                  </a:txBody>
                  <a:tcPr/>
                </a:tc>
                <a:tc>
                  <a:txBody>
                    <a:bodyPr/>
                    <a:lstStyle/>
                    <a:p>
                      <a:pPr algn="just"/>
                      <a:r>
                        <a:rPr lang="en-US" sz="1800" dirty="0">
                          <a:latin typeface="Times New Roman" panose="02020603050405020304" pitchFamily="18" charset="0"/>
                          <a:cs typeface="Times New Roman" panose="02020603050405020304" pitchFamily="18" charset="0"/>
                        </a:rPr>
                        <a:t>Novel optimization approach for stock price forecasting using</a:t>
                      </a:r>
                    </a:p>
                    <a:p>
                      <a:pPr algn="just"/>
                      <a:r>
                        <a:rPr lang="en-US" sz="1800" dirty="0">
                          <a:latin typeface="Times New Roman" panose="02020603050405020304" pitchFamily="18" charset="0"/>
                          <a:cs typeface="Times New Roman" panose="02020603050405020304" pitchFamily="18" charset="0"/>
                        </a:rPr>
                        <a:t>multi-layered sequential LSTM</a:t>
                      </a:r>
                      <a:endParaRPr lang="en-IN" sz="1800" dirty="0">
                        <a:latin typeface="Times New Roman" panose="02020603050405020304" pitchFamily="18" charset="0"/>
                        <a:cs typeface="Times New Roman" panose="02020603050405020304" pitchFamily="18" charset="0"/>
                      </a:endParaRPr>
                    </a:p>
                  </a:txBody>
                  <a:tcPr/>
                </a:tc>
                <a:tc>
                  <a:txBody>
                    <a:bodyPr/>
                    <a:lstStyle/>
                    <a:p>
                      <a:pPr marL="285750" indent="-285750"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Multi-layered LSTM </a:t>
                      </a:r>
                    </a:p>
                  </a:txBody>
                  <a:tcPr/>
                </a:tc>
                <a:tc>
                  <a:txBody>
                    <a:bodyPr/>
                    <a:lstStyle/>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Mean Error Percentage  -2.18%</a:t>
                      </a:r>
                      <a:endParaRPr lang="en-IN" sz="1800" dirty="0">
                        <a:latin typeface="Times New Roman" panose="02020603050405020304" pitchFamily="18" charset="0"/>
                        <a:cs typeface="Times New Roman" panose="02020603050405020304" pitchFamily="18" charset="0"/>
                      </a:endParaRPr>
                    </a:p>
                  </a:txBody>
                  <a:tcPr/>
                </a:tc>
                <a:tc>
                  <a:txBody>
                    <a:bodyPr/>
                    <a:lstStyle/>
                    <a:p>
                      <a:pPr marL="285750" indent="-285750"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No use of dynamic data.</a:t>
                      </a:r>
                    </a:p>
                    <a:p>
                      <a:pPr marL="0" indent="0" algn="just">
                        <a:buFont typeface="Arial" panose="020B0604020202020204" pitchFamily="34" charset="0"/>
                        <a:buNone/>
                      </a:pP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61691190"/>
                  </a:ext>
                </a:extLst>
              </a:tr>
              <a:tr h="1360756">
                <a:tc>
                  <a:txBody>
                    <a:bodyPr/>
                    <a:lstStyle/>
                    <a:p>
                      <a:pPr algn="just"/>
                      <a:r>
                        <a:rPr lang="en-IN" sz="1800" b="1" dirty="0">
                          <a:latin typeface="Times New Roman" panose="02020603050405020304" pitchFamily="18" charset="0"/>
                          <a:cs typeface="Times New Roman" panose="02020603050405020304" pitchFamily="18" charset="0"/>
                        </a:rPr>
                        <a:t>2</a:t>
                      </a:r>
                    </a:p>
                  </a:txBody>
                  <a:tcPr/>
                </a:tc>
                <a:tc>
                  <a:txBody>
                    <a:bodyPr/>
                    <a:lstStyle/>
                    <a:p>
                      <a:pPr algn="just"/>
                      <a:r>
                        <a:rPr lang="en-IN" sz="1800" dirty="0">
                          <a:latin typeface="Times New Roman" panose="02020603050405020304" pitchFamily="18" charset="0"/>
                          <a:cs typeface="Times New Roman" panose="02020603050405020304" pitchFamily="18" charset="0"/>
                        </a:rPr>
                        <a:t>M</a:t>
                      </a:r>
                      <a:r>
                        <a:rPr lang="en-US" sz="1800" dirty="0">
                          <a:latin typeface="Times New Roman" panose="02020603050405020304" pitchFamily="18" charset="0"/>
                          <a:cs typeface="Times New Roman" panose="02020603050405020304" pitchFamily="18" charset="0"/>
                        </a:rPr>
                        <a:t>ulti-scale local cues and hierarchical attention-based LSTM for stock price trend prediction</a:t>
                      </a:r>
                      <a:endParaRPr lang="en-IN" sz="1800" dirty="0">
                        <a:latin typeface="Times New Roman" panose="02020603050405020304" pitchFamily="18" charset="0"/>
                        <a:cs typeface="Times New Roman" panose="02020603050405020304" pitchFamily="18" charset="0"/>
                      </a:endParaRPr>
                    </a:p>
                  </a:txBody>
                  <a:tcPr/>
                </a:tc>
                <a:tc>
                  <a:txBody>
                    <a:bodyPr/>
                    <a:lstStyle/>
                    <a:p>
                      <a:pPr marL="285750" indent="-285750"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Multi-scale local cues LSTM</a:t>
                      </a:r>
                    </a:p>
                  </a:txBody>
                  <a:tcPr/>
                </a:tc>
                <a:tc>
                  <a:txBody>
                    <a:bodyPr/>
                    <a:lstStyle/>
                    <a:p>
                      <a:pPr marL="285750" indent="-285750"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Attention – Based model.</a:t>
                      </a:r>
                    </a:p>
                  </a:txBody>
                  <a:tcPr/>
                </a:tc>
                <a:tc>
                  <a:txBody>
                    <a:bodyPr/>
                    <a:lstStyle/>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 MLCA-LSTM degenerates more slowly than LSTM.</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39089275"/>
                  </a:ext>
                </a:extLst>
              </a:tr>
              <a:tr h="1618673">
                <a:tc>
                  <a:txBody>
                    <a:bodyPr/>
                    <a:lstStyle/>
                    <a:p>
                      <a:pPr algn="just"/>
                      <a:r>
                        <a:rPr lang="en-IN" sz="1800" b="1" dirty="0">
                          <a:latin typeface="Times New Roman" panose="02020603050405020304" pitchFamily="18" charset="0"/>
                          <a:cs typeface="Times New Roman" panose="02020603050405020304" pitchFamily="18" charset="0"/>
                        </a:rPr>
                        <a:t>3</a:t>
                      </a:r>
                    </a:p>
                  </a:txBody>
                  <a:tcPr/>
                </a:tc>
                <a:tc>
                  <a:txBody>
                    <a:bodyPr/>
                    <a:lstStyle/>
                    <a:p>
                      <a:pPr algn="just"/>
                      <a:r>
                        <a:rPr lang="en-US" sz="1800" dirty="0">
                          <a:latin typeface="Times New Roman" panose="02020603050405020304" pitchFamily="18" charset="0"/>
                          <a:cs typeface="Times New Roman" panose="02020603050405020304" pitchFamily="18" charset="0"/>
                        </a:rPr>
                        <a:t>Real-time forecasting of time series in financial markets using sequentially</a:t>
                      </a:r>
                    </a:p>
                    <a:p>
                      <a:pPr algn="just"/>
                      <a:r>
                        <a:rPr lang="en-US" sz="1800" dirty="0">
                          <a:latin typeface="Times New Roman" panose="02020603050405020304" pitchFamily="18" charset="0"/>
                          <a:cs typeface="Times New Roman" panose="02020603050405020304" pitchFamily="18" charset="0"/>
                        </a:rPr>
                        <a:t>trained dual-LSTMs</a:t>
                      </a:r>
                      <a:endParaRPr lang="en-IN" sz="1800" dirty="0">
                        <a:latin typeface="Times New Roman" panose="02020603050405020304" pitchFamily="18" charset="0"/>
                        <a:cs typeface="Times New Roman" panose="02020603050405020304" pitchFamily="18" charset="0"/>
                      </a:endParaRPr>
                    </a:p>
                  </a:txBody>
                  <a:tcPr/>
                </a:tc>
                <a:tc>
                  <a:txBody>
                    <a:bodyPr/>
                    <a:lstStyle/>
                    <a:p>
                      <a:pPr marL="285750" indent="-285750"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A</a:t>
                      </a:r>
                      <a:r>
                        <a:rPr lang="en-US" sz="1800" dirty="0">
                          <a:latin typeface="Times New Roman" panose="02020603050405020304" pitchFamily="18" charset="0"/>
                          <a:cs typeface="Times New Roman" panose="02020603050405020304" pitchFamily="18" charset="0"/>
                        </a:rPr>
                        <a:t>utoregressive integrated moving average model</a:t>
                      </a:r>
                      <a:endParaRPr lang="en-IN" sz="1800" dirty="0">
                        <a:latin typeface="Times New Roman" panose="02020603050405020304" pitchFamily="18" charset="0"/>
                        <a:cs typeface="Times New Roman" panose="02020603050405020304" pitchFamily="18" charset="0"/>
                      </a:endParaRPr>
                    </a:p>
                  </a:txBody>
                  <a:tcPr/>
                </a:tc>
                <a:tc>
                  <a:txBody>
                    <a:bodyPr/>
                    <a:lstStyle/>
                    <a:p>
                      <a:pPr marL="285750" indent="-285750"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Dual – LSTM model.</a:t>
                      </a:r>
                    </a:p>
                  </a:txBody>
                  <a:tcPr/>
                </a:tc>
                <a:tc>
                  <a:txBody>
                    <a:bodyPr/>
                    <a:lstStyle/>
                    <a:p>
                      <a:pPr marL="285750" indent="-285750"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Over-fitting issues</a:t>
                      </a:r>
                    </a:p>
                  </a:txBody>
                  <a:tcPr/>
                </a:tc>
                <a:extLst>
                  <a:ext uri="{0D108BD9-81ED-4DB2-BD59-A6C34878D82A}">
                    <a16:rowId xmlns:a16="http://schemas.microsoft.com/office/drawing/2014/main" val="1369258848"/>
                  </a:ext>
                </a:extLst>
              </a:tr>
            </a:tbl>
          </a:graphicData>
        </a:graphic>
      </p:graphicFrame>
      <p:sp>
        <p:nvSpPr>
          <p:cNvPr id="14" name="TextBox 13">
            <a:extLst>
              <a:ext uri="{FF2B5EF4-FFF2-40B4-BE49-F238E27FC236}">
                <a16:creationId xmlns:a16="http://schemas.microsoft.com/office/drawing/2014/main" id="{47C97A7E-1DB8-97D0-1533-0342D26921A9}"/>
              </a:ext>
            </a:extLst>
          </p:cNvPr>
          <p:cNvSpPr txBox="1"/>
          <p:nvPr/>
        </p:nvSpPr>
        <p:spPr>
          <a:xfrm>
            <a:off x="4038600" y="348442"/>
            <a:ext cx="4102511"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LITERATURE REVIEW</a:t>
            </a:r>
          </a:p>
        </p:txBody>
      </p:sp>
    </p:spTree>
    <p:extLst>
      <p:ext uri="{BB962C8B-B14F-4D97-AF65-F5344CB8AC3E}">
        <p14:creationId xmlns:p14="http://schemas.microsoft.com/office/powerpoint/2010/main" val="906952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894BB7-477C-AD46-E3DD-7B8E24F88CBE}"/>
              </a:ext>
            </a:extLst>
          </p:cNvPr>
          <p:cNvSpPr>
            <a:spLocks noGrp="1"/>
          </p:cNvSpPr>
          <p:nvPr>
            <p:ph idx="1"/>
          </p:nvPr>
        </p:nvSpPr>
        <p:spPr>
          <a:xfrm>
            <a:off x="1310149" y="1567646"/>
            <a:ext cx="4894006" cy="3497956"/>
          </a:xfrm>
        </p:spPr>
        <p:txBody>
          <a:bodyPr>
            <a:normAutofit/>
          </a:bodyPr>
          <a:lstStyle/>
          <a:p>
            <a:pPr>
              <a:lnSpc>
                <a:spcPct val="150000"/>
              </a:lnSpc>
            </a:pPr>
            <a:r>
              <a:rPr lang="en-IN" sz="2000" dirty="0">
                <a:latin typeface="Times New Roman" panose="02020603050405020304" pitchFamily="18" charset="0"/>
                <a:cs typeface="Times New Roman" panose="02020603050405020304" pitchFamily="18" charset="0"/>
              </a:rPr>
              <a:t>DATA COLLECTION</a:t>
            </a:r>
          </a:p>
          <a:p>
            <a:pPr>
              <a:lnSpc>
                <a:spcPct val="150000"/>
              </a:lnSpc>
            </a:pPr>
            <a:r>
              <a:rPr lang="en-IN" sz="2000" dirty="0">
                <a:latin typeface="Times New Roman" panose="02020603050405020304" pitchFamily="18" charset="0"/>
                <a:cs typeface="Times New Roman" panose="02020603050405020304" pitchFamily="18" charset="0"/>
              </a:rPr>
              <a:t>DATA PREPROCESSING</a:t>
            </a:r>
          </a:p>
          <a:p>
            <a:pPr>
              <a:lnSpc>
                <a:spcPct val="150000"/>
              </a:lnSpc>
            </a:pPr>
            <a:r>
              <a:rPr lang="en-IN" sz="2000" dirty="0">
                <a:latin typeface="Times New Roman" panose="02020603050405020304" pitchFamily="18" charset="0"/>
                <a:cs typeface="Times New Roman" panose="02020603050405020304" pitchFamily="18" charset="0"/>
              </a:rPr>
              <a:t>MODEL CREATION AND TRAINING</a:t>
            </a:r>
          </a:p>
          <a:p>
            <a:pPr>
              <a:lnSpc>
                <a:spcPct val="150000"/>
              </a:lnSpc>
            </a:pPr>
            <a:r>
              <a:rPr lang="en-IN" sz="2000" dirty="0">
                <a:latin typeface="Times New Roman" panose="02020603050405020304" pitchFamily="18" charset="0"/>
                <a:cs typeface="Times New Roman" panose="02020603050405020304" pitchFamily="18" charset="0"/>
              </a:rPr>
              <a:t>EVALUATION</a:t>
            </a:r>
          </a:p>
          <a:p>
            <a:pPr>
              <a:lnSpc>
                <a:spcPct val="150000"/>
              </a:lnSpc>
            </a:pPr>
            <a:r>
              <a:rPr lang="en-IN" sz="2000" dirty="0">
                <a:latin typeface="Times New Roman" panose="02020603050405020304" pitchFamily="18" charset="0"/>
                <a:cs typeface="Times New Roman" panose="02020603050405020304" pitchFamily="18" charset="0"/>
              </a:rPr>
              <a:t>DEPLOYMENT</a:t>
            </a:r>
          </a:p>
        </p:txBody>
      </p:sp>
      <p:sp>
        <p:nvSpPr>
          <p:cNvPr id="4" name="Date Placeholder 3">
            <a:extLst>
              <a:ext uri="{FF2B5EF4-FFF2-40B4-BE49-F238E27FC236}">
                <a16:creationId xmlns:a16="http://schemas.microsoft.com/office/drawing/2014/main" id="{190A80FF-CF7B-2D1C-977E-F57B4769A162}"/>
              </a:ext>
            </a:extLst>
          </p:cNvPr>
          <p:cNvSpPr>
            <a:spLocks noGrp="1"/>
          </p:cNvSpPr>
          <p:nvPr>
            <p:ph type="dt" sz="half" idx="10"/>
          </p:nvPr>
        </p:nvSpPr>
        <p:spPr/>
        <p:txBody>
          <a:bodyPr/>
          <a:lstStyle/>
          <a:p>
            <a:fld id="{C7DB477B-E71A-4CFF-BF4C-39E63BDDBD18}" type="datetime1">
              <a:rPr lang="en-IN" sz="1400" smtClean="0">
                <a:latin typeface="Times New Roman" panose="02020603050405020304" pitchFamily="18" charset="0"/>
                <a:cs typeface="Times New Roman" panose="02020603050405020304" pitchFamily="18" charset="0"/>
              </a:rPr>
              <a:t>28-04-2023</a:t>
            </a:fld>
            <a:endParaRPr lang="en-IN"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4704024D-F115-255B-F5CF-3D9666B027EE}"/>
              </a:ext>
            </a:extLst>
          </p:cNvPr>
          <p:cNvSpPr>
            <a:spLocks noGrp="1"/>
          </p:cNvSpPr>
          <p:nvPr>
            <p:ph type="ftr" sz="quarter" idx="11"/>
          </p:nvPr>
        </p:nvSpPr>
        <p:spPr/>
        <p:txBody>
          <a:bodyPr/>
          <a:lstStyle/>
          <a:p>
            <a:r>
              <a:rPr lang="en-IN" sz="1400" dirty="0">
                <a:latin typeface="Times New Roman" panose="02020603050405020304" pitchFamily="18" charset="0"/>
                <a:cs typeface="Times New Roman" panose="02020603050405020304" pitchFamily="18" charset="0"/>
              </a:rPr>
              <a:t>SKCET / AI &amp; DS</a:t>
            </a:r>
          </a:p>
        </p:txBody>
      </p:sp>
      <p:sp>
        <p:nvSpPr>
          <p:cNvPr id="6" name="Slide Number Placeholder 5">
            <a:extLst>
              <a:ext uri="{FF2B5EF4-FFF2-40B4-BE49-F238E27FC236}">
                <a16:creationId xmlns:a16="http://schemas.microsoft.com/office/drawing/2014/main" id="{AC0A4F88-B568-2138-D427-6DC8E186885C}"/>
              </a:ext>
            </a:extLst>
          </p:cNvPr>
          <p:cNvSpPr>
            <a:spLocks noGrp="1"/>
          </p:cNvSpPr>
          <p:nvPr>
            <p:ph type="sldNum" sz="quarter" idx="12"/>
          </p:nvPr>
        </p:nvSpPr>
        <p:spPr/>
        <p:txBody>
          <a:bodyPr/>
          <a:lstStyle/>
          <a:p>
            <a:fld id="{424570A0-3C5D-48CC-A9DB-EDDFA94DE3F8}" type="slidenum">
              <a:rPr lang="en-IN" sz="1400" smtClean="0">
                <a:latin typeface="Times New Roman" panose="02020603050405020304" pitchFamily="18" charset="0"/>
                <a:cs typeface="Times New Roman" panose="02020603050405020304" pitchFamily="18" charset="0"/>
              </a:rPr>
              <a:t>7</a:t>
            </a:fld>
            <a:endParaRPr lang="en-IN" sz="1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F6858B0-66FA-9093-EF8B-EA17E93B2C3F}"/>
              </a:ext>
            </a:extLst>
          </p:cNvPr>
          <p:cNvSpPr txBox="1"/>
          <p:nvPr/>
        </p:nvSpPr>
        <p:spPr>
          <a:xfrm>
            <a:off x="838199" y="626725"/>
            <a:ext cx="4658475"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MODULE DESCRIPTION</a:t>
            </a:r>
          </a:p>
        </p:txBody>
      </p:sp>
    </p:spTree>
    <p:extLst>
      <p:ext uri="{BB962C8B-B14F-4D97-AF65-F5344CB8AC3E}">
        <p14:creationId xmlns:p14="http://schemas.microsoft.com/office/powerpoint/2010/main" val="3305368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1E23C-7D8F-A5DD-EE46-72CF7D9E5C3D}"/>
              </a:ext>
            </a:extLst>
          </p:cNvPr>
          <p:cNvSpPr>
            <a:spLocks noGrp="1"/>
          </p:cNvSpPr>
          <p:nvPr>
            <p:ph type="title"/>
          </p:nvPr>
        </p:nvSpPr>
        <p:spPr>
          <a:xfrm>
            <a:off x="4240965" y="267203"/>
            <a:ext cx="3710070" cy="519322"/>
          </a:xfrm>
        </p:spPr>
        <p:txBody>
          <a:bodyPr>
            <a:normAutofit/>
          </a:bodyPr>
          <a:lstStyle/>
          <a:p>
            <a:r>
              <a:rPr lang="en-IN" sz="2800" b="1" dirty="0">
                <a:latin typeface="Times New Roman" panose="02020603050405020304" pitchFamily="18" charset="0"/>
                <a:cs typeface="Times New Roman" panose="02020603050405020304" pitchFamily="18" charset="0"/>
              </a:rPr>
              <a:t>PROPOSED SYSTEM</a:t>
            </a:r>
          </a:p>
        </p:txBody>
      </p:sp>
      <p:sp>
        <p:nvSpPr>
          <p:cNvPr id="3" name="Date Placeholder 2">
            <a:extLst>
              <a:ext uri="{FF2B5EF4-FFF2-40B4-BE49-F238E27FC236}">
                <a16:creationId xmlns:a16="http://schemas.microsoft.com/office/drawing/2014/main" id="{44646B29-CC68-8579-D0A0-180C74320845}"/>
              </a:ext>
            </a:extLst>
          </p:cNvPr>
          <p:cNvSpPr>
            <a:spLocks noGrp="1"/>
          </p:cNvSpPr>
          <p:nvPr>
            <p:ph type="dt" sz="half" idx="10"/>
          </p:nvPr>
        </p:nvSpPr>
        <p:spPr/>
        <p:txBody>
          <a:bodyPr/>
          <a:lstStyle/>
          <a:p>
            <a:fld id="{40AAAC93-CBE7-4571-A161-82F36CEA96E1}" type="datetime1">
              <a:rPr lang="en-IN" sz="1400" smtClean="0">
                <a:latin typeface="Times New Roman" panose="02020603050405020304" pitchFamily="18" charset="0"/>
                <a:cs typeface="Times New Roman" panose="02020603050405020304" pitchFamily="18" charset="0"/>
              </a:rPr>
              <a:t>28-04-2023</a:t>
            </a:fld>
            <a:endParaRPr lang="en-IN"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7990629C-C500-CC10-5DF8-4C9ED37E83C4}"/>
              </a:ext>
            </a:extLst>
          </p:cNvPr>
          <p:cNvSpPr>
            <a:spLocks noGrp="1"/>
          </p:cNvSpPr>
          <p:nvPr>
            <p:ph type="ftr" sz="quarter" idx="11"/>
          </p:nvPr>
        </p:nvSpPr>
        <p:spPr/>
        <p:txBody>
          <a:bodyPr/>
          <a:lstStyle/>
          <a:p>
            <a:r>
              <a:rPr lang="en-IN" sz="1400" dirty="0">
                <a:latin typeface="Times New Roman" panose="02020603050405020304" pitchFamily="18" charset="0"/>
                <a:cs typeface="Times New Roman" panose="02020603050405020304" pitchFamily="18" charset="0"/>
              </a:rPr>
              <a:t>SKCET / AI &amp; DS</a:t>
            </a:r>
          </a:p>
        </p:txBody>
      </p:sp>
      <p:sp>
        <p:nvSpPr>
          <p:cNvPr id="5" name="Slide Number Placeholder 4">
            <a:extLst>
              <a:ext uri="{FF2B5EF4-FFF2-40B4-BE49-F238E27FC236}">
                <a16:creationId xmlns:a16="http://schemas.microsoft.com/office/drawing/2014/main" id="{BCF358A3-A235-1833-EEAC-814E0DA6D0B4}"/>
              </a:ext>
            </a:extLst>
          </p:cNvPr>
          <p:cNvSpPr>
            <a:spLocks noGrp="1"/>
          </p:cNvSpPr>
          <p:nvPr>
            <p:ph type="sldNum" sz="quarter" idx="12"/>
          </p:nvPr>
        </p:nvSpPr>
        <p:spPr/>
        <p:txBody>
          <a:bodyPr/>
          <a:lstStyle/>
          <a:p>
            <a:fld id="{424570A0-3C5D-48CC-A9DB-EDDFA94DE3F8}" type="slidenum">
              <a:rPr lang="en-IN" sz="1400" smtClean="0">
                <a:latin typeface="Times New Roman" panose="02020603050405020304" pitchFamily="18" charset="0"/>
                <a:cs typeface="Times New Roman" panose="02020603050405020304" pitchFamily="18" charset="0"/>
              </a:rPr>
              <a:t>8</a:t>
            </a:fld>
            <a:endParaRPr lang="en-IN" sz="14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D118EDF-2968-26E7-4DB5-218070F38C1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02542" y="996753"/>
            <a:ext cx="8386916" cy="5359597"/>
          </a:xfrm>
          <a:prstGeom prst="rect">
            <a:avLst/>
          </a:prstGeom>
          <a:noFill/>
          <a:ln>
            <a:noFill/>
          </a:ln>
        </p:spPr>
      </p:pic>
    </p:spTree>
    <p:extLst>
      <p:ext uri="{BB962C8B-B14F-4D97-AF65-F5344CB8AC3E}">
        <p14:creationId xmlns:p14="http://schemas.microsoft.com/office/powerpoint/2010/main" val="28763168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49E7CC8-958E-0F8A-0996-1B71BBD0D752}"/>
              </a:ext>
            </a:extLst>
          </p:cNvPr>
          <p:cNvSpPr txBox="1"/>
          <p:nvPr/>
        </p:nvSpPr>
        <p:spPr>
          <a:xfrm>
            <a:off x="838199" y="626725"/>
            <a:ext cx="4206411"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PROPOSED WORFLOW </a:t>
            </a:r>
          </a:p>
        </p:txBody>
      </p:sp>
      <p:sp>
        <p:nvSpPr>
          <p:cNvPr id="2" name="Date Placeholder 1">
            <a:extLst>
              <a:ext uri="{FF2B5EF4-FFF2-40B4-BE49-F238E27FC236}">
                <a16:creationId xmlns:a16="http://schemas.microsoft.com/office/drawing/2014/main" id="{D5D3BFFF-48C1-38E1-045F-2597C194E9A3}"/>
              </a:ext>
            </a:extLst>
          </p:cNvPr>
          <p:cNvSpPr>
            <a:spLocks noGrp="1"/>
          </p:cNvSpPr>
          <p:nvPr>
            <p:ph type="dt" sz="half" idx="10"/>
          </p:nvPr>
        </p:nvSpPr>
        <p:spPr/>
        <p:txBody>
          <a:bodyPr/>
          <a:lstStyle/>
          <a:p>
            <a:fld id="{64E32E93-0FBC-4A92-A80F-7D39749400BF}" type="datetime1">
              <a:rPr lang="en-IN" sz="1400" smtClean="0">
                <a:latin typeface="Times New Roman" panose="02020603050405020304" pitchFamily="18" charset="0"/>
                <a:cs typeface="Times New Roman" panose="02020603050405020304" pitchFamily="18" charset="0"/>
              </a:rPr>
              <a:t>28-04-2023</a:t>
            </a:fld>
            <a:endParaRPr lang="en-IN"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43490EBB-D62C-76D4-77CC-541EE770E5FD}"/>
              </a:ext>
            </a:extLst>
          </p:cNvPr>
          <p:cNvSpPr>
            <a:spLocks noGrp="1"/>
          </p:cNvSpPr>
          <p:nvPr>
            <p:ph type="ftr" sz="quarter" idx="11"/>
          </p:nvPr>
        </p:nvSpPr>
        <p:spPr/>
        <p:txBody>
          <a:bodyPr/>
          <a:lstStyle/>
          <a:p>
            <a:r>
              <a:rPr lang="en-IN" sz="1400" dirty="0">
                <a:latin typeface="Times New Roman" panose="02020603050405020304" pitchFamily="18" charset="0"/>
                <a:cs typeface="Times New Roman" panose="02020603050405020304" pitchFamily="18" charset="0"/>
              </a:rPr>
              <a:t>SKCET / AI &amp; DS</a:t>
            </a:r>
          </a:p>
        </p:txBody>
      </p:sp>
      <p:sp>
        <p:nvSpPr>
          <p:cNvPr id="6" name="Slide Number Placeholder 5">
            <a:extLst>
              <a:ext uri="{FF2B5EF4-FFF2-40B4-BE49-F238E27FC236}">
                <a16:creationId xmlns:a16="http://schemas.microsoft.com/office/drawing/2014/main" id="{09942A93-2E98-99BC-5FD4-89235E43F01F}"/>
              </a:ext>
            </a:extLst>
          </p:cNvPr>
          <p:cNvSpPr>
            <a:spLocks noGrp="1"/>
          </p:cNvSpPr>
          <p:nvPr>
            <p:ph type="sldNum" sz="quarter" idx="12"/>
          </p:nvPr>
        </p:nvSpPr>
        <p:spPr/>
        <p:txBody>
          <a:bodyPr/>
          <a:lstStyle/>
          <a:p>
            <a:fld id="{424570A0-3C5D-48CC-A9DB-EDDFA94DE3F8}" type="slidenum">
              <a:rPr lang="en-IN" sz="1400" smtClean="0">
                <a:latin typeface="Times New Roman" panose="02020603050405020304" pitchFamily="18" charset="0"/>
                <a:cs typeface="Times New Roman" panose="02020603050405020304" pitchFamily="18" charset="0"/>
              </a:rPr>
              <a:t>9</a:t>
            </a:fld>
            <a:endParaRPr lang="en-IN" sz="14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DEBF6DCF-5E6D-E345-FB2E-2745CEBB389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625761" y="373627"/>
            <a:ext cx="5878621" cy="5958128"/>
          </a:xfrm>
          <a:prstGeom prst="rect">
            <a:avLst/>
          </a:prstGeom>
          <a:noFill/>
          <a:ln>
            <a:noFill/>
          </a:ln>
        </p:spPr>
      </p:pic>
    </p:spTree>
    <p:extLst>
      <p:ext uri="{BB962C8B-B14F-4D97-AF65-F5344CB8AC3E}">
        <p14:creationId xmlns:p14="http://schemas.microsoft.com/office/powerpoint/2010/main" val="10362239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5CF93-B89A-A2C9-9432-BA1FF98820BD}"/>
              </a:ext>
            </a:extLst>
          </p:cNvPr>
          <p:cNvSpPr>
            <a:spLocks noGrp="1"/>
          </p:cNvSpPr>
          <p:nvPr>
            <p:ph type="title"/>
          </p:nvPr>
        </p:nvSpPr>
        <p:spPr>
          <a:xfrm>
            <a:off x="2665771" y="275198"/>
            <a:ext cx="6860458" cy="723936"/>
          </a:xfrm>
        </p:spPr>
        <p:txBody>
          <a:bodyPr>
            <a:normAutofit/>
          </a:bodyPr>
          <a:lstStyle/>
          <a:p>
            <a:r>
              <a:rPr lang="en-IN" sz="2800" b="1"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LONG SHORT-TERM MEMORY (LSTM)</a:t>
            </a:r>
            <a:endParaRPr lang="en-IN" sz="2800"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6D46EEF-F91D-AD1B-5A9A-1261674D70DA}"/>
              </a:ext>
            </a:extLst>
          </p:cNvPr>
          <p:cNvSpPr>
            <a:spLocks noGrp="1"/>
          </p:cNvSpPr>
          <p:nvPr>
            <p:ph type="dt" sz="half" idx="10"/>
          </p:nvPr>
        </p:nvSpPr>
        <p:spPr/>
        <p:txBody>
          <a:bodyPr/>
          <a:lstStyle/>
          <a:p>
            <a:fld id="{6099A299-8CD9-427C-AF36-46AC7C877F49}" type="datetime1">
              <a:rPr lang="en-IN" sz="1400" smtClean="0">
                <a:latin typeface="Times New Roman" panose="02020603050405020304" pitchFamily="18" charset="0"/>
                <a:cs typeface="Times New Roman" panose="02020603050405020304" pitchFamily="18" charset="0"/>
              </a:rPr>
              <a:t>28-04-2023</a:t>
            </a:fld>
            <a:endParaRPr lang="en-IN"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8AD49DED-2A05-46CB-39B4-902F95238B5A}"/>
              </a:ext>
            </a:extLst>
          </p:cNvPr>
          <p:cNvSpPr>
            <a:spLocks noGrp="1"/>
          </p:cNvSpPr>
          <p:nvPr>
            <p:ph type="ftr" sz="quarter" idx="11"/>
          </p:nvPr>
        </p:nvSpPr>
        <p:spPr/>
        <p:txBody>
          <a:bodyPr/>
          <a:lstStyle/>
          <a:p>
            <a:r>
              <a:rPr lang="en-IN" sz="1400" dirty="0">
                <a:latin typeface="Times New Roman" panose="02020603050405020304" pitchFamily="18" charset="0"/>
                <a:cs typeface="Times New Roman" panose="02020603050405020304" pitchFamily="18" charset="0"/>
              </a:rPr>
              <a:t>SKCET / AI &amp; DS</a:t>
            </a:r>
          </a:p>
        </p:txBody>
      </p:sp>
      <p:sp>
        <p:nvSpPr>
          <p:cNvPr id="6" name="Slide Number Placeholder 5">
            <a:extLst>
              <a:ext uri="{FF2B5EF4-FFF2-40B4-BE49-F238E27FC236}">
                <a16:creationId xmlns:a16="http://schemas.microsoft.com/office/drawing/2014/main" id="{C205A00F-A8E3-D9D4-67FF-C81EEBFF8D31}"/>
              </a:ext>
            </a:extLst>
          </p:cNvPr>
          <p:cNvSpPr>
            <a:spLocks noGrp="1"/>
          </p:cNvSpPr>
          <p:nvPr>
            <p:ph type="sldNum" sz="quarter" idx="12"/>
          </p:nvPr>
        </p:nvSpPr>
        <p:spPr/>
        <p:txBody>
          <a:bodyPr/>
          <a:lstStyle/>
          <a:p>
            <a:fld id="{424570A0-3C5D-48CC-A9DB-EDDFA94DE3F8}" type="slidenum">
              <a:rPr lang="en-IN" sz="1400" smtClean="0">
                <a:latin typeface="Times New Roman" panose="02020603050405020304" pitchFamily="18" charset="0"/>
                <a:cs typeface="Times New Roman" panose="02020603050405020304" pitchFamily="18" charset="0"/>
              </a:rPr>
              <a:t>10</a:t>
            </a:fld>
            <a:endParaRPr lang="en-IN" sz="14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A81E968D-8AE2-EA2B-DBFD-CCB99E3704B8}"/>
              </a:ext>
            </a:extLst>
          </p:cNvPr>
          <p:cNvSpPr txBox="1"/>
          <p:nvPr/>
        </p:nvSpPr>
        <p:spPr>
          <a:xfrm>
            <a:off x="380640" y="999134"/>
            <a:ext cx="11585218" cy="5115311"/>
          </a:xfrm>
          <a:prstGeom prst="rect">
            <a:avLst/>
          </a:prstGeom>
          <a:noFill/>
        </p:spPr>
        <p:txBody>
          <a:bodyPr wrap="square" rtlCol="0">
            <a:spAutoFit/>
          </a:bodyPr>
          <a:lstStyle/>
          <a:p>
            <a:pPr>
              <a:lnSpc>
                <a:spcPct val="150000"/>
              </a:lnSpc>
            </a:pPr>
            <a:r>
              <a:rPr lang="en-US" sz="2000" dirty="0">
                <a:latin typeface="Times New Roman" panose="02020603050405020304" pitchFamily="18" charset="0"/>
                <a:cs typeface="Times New Roman" panose="02020603050405020304" pitchFamily="18" charset="0"/>
              </a:rPr>
              <a:t>Long Short-Term Memory Networks (LSTM), is a variety of recurrent neural networks (RNNs) that are capable of capturing long-term dependencies and process sequential information.</a:t>
            </a:r>
          </a:p>
          <a:p>
            <a:pPr>
              <a:lnSpc>
                <a:spcPct val="150000"/>
              </a:lnSpc>
            </a:pPr>
            <a:endParaRPr lang="en-US" sz="20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Forget Gate(f) : </a:t>
            </a:r>
            <a:r>
              <a:rPr lang="en-US" sz="2000" dirty="0">
                <a:latin typeface="Times New Roman" panose="02020603050405020304" pitchFamily="18" charset="0"/>
                <a:cs typeface="Times New Roman" panose="02020603050405020304" pitchFamily="18" charset="0"/>
              </a:rPr>
              <a:t>The forget gate determines which information from the previous time step is irrelevant and should be discarded. This gate decides which values in the cell state to forget by assigning weights between 0 and 1 to each element.</a:t>
            </a:r>
            <a:endParaRPr lang="en-IN" sz="20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Input Gate(</a:t>
            </a:r>
            <a:r>
              <a:rPr lang="en-IN" sz="2000" b="1" dirty="0" err="1">
                <a:latin typeface="Times New Roman" panose="02020603050405020304" pitchFamily="18" charset="0"/>
                <a:cs typeface="Times New Roman" panose="02020603050405020304" pitchFamily="18" charset="0"/>
              </a:rPr>
              <a:t>i</a:t>
            </a:r>
            <a:r>
              <a:rPr lang="en-IN" sz="2000" b="1" dirty="0">
                <a:latin typeface="Times New Roman" panose="02020603050405020304" pitchFamily="18" charset="0"/>
                <a:cs typeface="Times New Roman" panose="02020603050405020304" pitchFamily="18" charset="0"/>
              </a:rPr>
              <a:t>) : </a:t>
            </a:r>
            <a:r>
              <a:rPr lang="en-US" sz="2000" dirty="0">
                <a:latin typeface="Times New Roman" panose="02020603050405020304" pitchFamily="18" charset="0"/>
                <a:cs typeface="Times New Roman" panose="02020603050405020304" pitchFamily="18" charset="0"/>
              </a:rPr>
              <a:t> The input gate determines which new information should be stored in the cell state. It takes the previous hidden state and the current input, passes them through a sigmoid activation function, and produces an input gate output.</a:t>
            </a:r>
            <a:endParaRPr lang="en-IN" sz="20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Output Gate(o) : </a:t>
            </a:r>
            <a:r>
              <a:rPr lang="en-US" sz="2000" dirty="0">
                <a:latin typeface="Times New Roman" panose="02020603050405020304" pitchFamily="18" charset="0"/>
                <a:cs typeface="Times New Roman" panose="02020603050405020304" pitchFamily="18" charset="0"/>
              </a:rPr>
              <a:t>The output gate determines the output of the LSTM cell based on the updated cell state. The output gate regulates the information flow from the cell state to the hidden state and generate the output.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50049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5CF93-B89A-A2C9-9432-BA1FF98820BD}"/>
              </a:ext>
            </a:extLst>
          </p:cNvPr>
          <p:cNvSpPr>
            <a:spLocks noGrp="1"/>
          </p:cNvSpPr>
          <p:nvPr>
            <p:ph type="title"/>
          </p:nvPr>
        </p:nvSpPr>
        <p:spPr>
          <a:xfrm>
            <a:off x="3958713" y="328769"/>
            <a:ext cx="4274574" cy="723936"/>
          </a:xfrm>
        </p:spPr>
        <p:txBody>
          <a:bodyPr>
            <a:normAutofit/>
          </a:bodyPr>
          <a:lstStyle/>
          <a:p>
            <a:r>
              <a:rPr lang="en-IN" sz="2800" b="1"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LSTM ARCHITECTURE</a:t>
            </a:r>
            <a:endParaRPr lang="en-IN" sz="2800"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6D46EEF-F91D-AD1B-5A9A-1261674D70DA}"/>
              </a:ext>
            </a:extLst>
          </p:cNvPr>
          <p:cNvSpPr>
            <a:spLocks noGrp="1"/>
          </p:cNvSpPr>
          <p:nvPr>
            <p:ph type="dt" sz="half" idx="10"/>
          </p:nvPr>
        </p:nvSpPr>
        <p:spPr/>
        <p:txBody>
          <a:bodyPr/>
          <a:lstStyle/>
          <a:p>
            <a:fld id="{6099A299-8CD9-427C-AF36-46AC7C877F49}" type="datetime1">
              <a:rPr lang="en-IN" sz="1400" smtClean="0">
                <a:latin typeface="Times New Roman" panose="02020603050405020304" pitchFamily="18" charset="0"/>
                <a:cs typeface="Times New Roman" panose="02020603050405020304" pitchFamily="18" charset="0"/>
              </a:rPr>
              <a:t>28-04-2023</a:t>
            </a:fld>
            <a:endParaRPr lang="en-IN"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8AD49DED-2A05-46CB-39B4-902F95238B5A}"/>
              </a:ext>
            </a:extLst>
          </p:cNvPr>
          <p:cNvSpPr>
            <a:spLocks noGrp="1"/>
          </p:cNvSpPr>
          <p:nvPr>
            <p:ph type="ftr" sz="quarter" idx="11"/>
          </p:nvPr>
        </p:nvSpPr>
        <p:spPr/>
        <p:txBody>
          <a:bodyPr/>
          <a:lstStyle/>
          <a:p>
            <a:r>
              <a:rPr lang="en-IN" sz="1400" dirty="0">
                <a:latin typeface="Times New Roman" panose="02020603050405020304" pitchFamily="18" charset="0"/>
                <a:cs typeface="Times New Roman" panose="02020603050405020304" pitchFamily="18" charset="0"/>
              </a:rPr>
              <a:t>SKCET / AI &amp; DS</a:t>
            </a:r>
          </a:p>
        </p:txBody>
      </p:sp>
      <p:sp>
        <p:nvSpPr>
          <p:cNvPr id="6" name="Slide Number Placeholder 5">
            <a:extLst>
              <a:ext uri="{FF2B5EF4-FFF2-40B4-BE49-F238E27FC236}">
                <a16:creationId xmlns:a16="http://schemas.microsoft.com/office/drawing/2014/main" id="{C205A00F-A8E3-D9D4-67FF-C81EEBFF8D31}"/>
              </a:ext>
            </a:extLst>
          </p:cNvPr>
          <p:cNvSpPr>
            <a:spLocks noGrp="1"/>
          </p:cNvSpPr>
          <p:nvPr>
            <p:ph type="sldNum" sz="quarter" idx="12"/>
          </p:nvPr>
        </p:nvSpPr>
        <p:spPr/>
        <p:txBody>
          <a:bodyPr/>
          <a:lstStyle/>
          <a:p>
            <a:fld id="{424570A0-3C5D-48CC-A9DB-EDDFA94DE3F8}" type="slidenum">
              <a:rPr lang="en-IN" sz="1400" smtClean="0">
                <a:latin typeface="Times New Roman" panose="02020603050405020304" pitchFamily="18" charset="0"/>
                <a:cs typeface="Times New Roman" panose="02020603050405020304" pitchFamily="18" charset="0"/>
              </a:rPr>
              <a:t>11</a:t>
            </a:fld>
            <a:endParaRPr lang="en-IN" sz="1400" dirty="0">
              <a:latin typeface="Times New Roman" panose="02020603050405020304" pitchFamily="18" charset="0"/>
              <a:cs typeface="Times New Roman" panose="02020603050405020304" pitchFamily="18" charset="0"/>
            </a:endParaRPr>
          </a:p>
        </p:txBody>
      </p:sp>
      <p:pic>
        <p:nvPicPr>
          <p:cNvPr id="11" name="Picture 4" descr="An Intuitive Explanation of LSTM. Recurrent Neural Networks | by Ottavio  Calzone | Medium">
            <a:extLst>
              <a:ext uri="{FF2B5EF4-FFF2-40B4-BE49-F238E27FC236}">
                <a16:creationId xmlns:a16="http://schemas.microsoft.com/office/drawing/2014/main" id="{552DAA08-7FD9-0BBB-53C2-74DECFE8F3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9367" y="1603763"/>
            <a:ext cx="7198465" cy="365047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a:extLst>
              <a:ext uri="{FF2B5EF4-FFF2-40B4-BE49-F238E27FC236}">
                <a16:creationId xmlns:a16="http://schemas.microsoft.com/office/drawing/2014/main" id="{EE55EC7E-A64E-C318-0565-46761DC63CC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8829" t="5033"/>
          <a:stretch/>
        </p:blipFill>
        <p:spPr bwMode="auto">
          <a:xfrm>
            <a:off x="7777943" y="1231620"/>
            <a:ext cx="3974690" cy="43947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26366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C264CC0-861F-B7AB-9B30-712C44B6081A}"/>
              </a:ext>
            </a:extLst>
          </p:cNvPr>
          <p:cNvSpPr>
            <a:spLocks noGrp="1"/>
          </p:cNvSpPr>
          <p:nvPr>
            <p:ph type="dt" sz="half" idx="10"/>
          </p:nvPr>
        </p:nvSpPr>
        <p:spPr/>
        <p:txBody>
          <a:bodyPr/>
          <a:lstStyle/>
          <a:p>
            <a:fld id="{E0C8D39A-4115-48AA-9BFA-9653CA05BD75}" type="datetime1">
              <a:rPr lang="en-IN" sz="1400" smtClean="0">
                <a:latin typeface="Times New Roman" panose="02020603050405020304" pitchFamily="18" charset="0"/>
                <a:cs typeface="Times New Roman" panose="02020603050405020304" pitchFamily="18" charset="0"/>
              </a:rPr>
              <a:t>28-04-2023</a:t>
            </a:fld>
            <a:endParaRPr lang="en-IN"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0187ED9D-B008-8D20-2F27-0D5B773A614F}"/>
              </a:ext>
            </a:extLst>
          </p:cNvPr>
          <p:cNvSpPr>
            <a:spLocks noGrp="1"/>
          </p:cNvSpPr>
          <p:nvPr>
            <p:ph type="ftr" sz="quarter" idx="11"/>
          </p:nvPr>
        </p:nvSpPr>
        <p:spPr/>
        <p:txBody>
          <a:bodyPr/>
          <a:lstStyle/>
          <a:p>
            <a:r>
              <a:rPr lang="en-IN" sz="1400" dirty="0">
                <a:latin typeface="Times New Roman" panose="02020603050405020304" pitchFamily="18" charset="0"/>
                <a:cs typeface="Times New Roman" panose="02020603050405020304" pitchFamily="18" charset="0"/>
              </a:rPr>
              <a:t>SKCET / AI &amp; DS</a:t>
            </a:r>
          </a:p>
        </p:txBody>
      </p:sp>
      <p:sp>
        <p:nvSpPr>
          <p:cNvPr id="5" name="Slide Number Placeholder 4">
            <a:extLst>
              <a:ext uri="{FF2B5EF4-FFF2-40B4-BE49-F238E27FC236}">
                <a16:creationId xmlns:a16="http://schemas.microsoft.com/office/drawing/2014/main" id="{7C36B57F-6E1B-07D1-3921-F2B300318BA2}"/>
              </a:ext>
            </a:extLst>
          </p:cNvPr>
          <p:cNvSpPr>
            <a:spLocks noGrp="1"/>
          </p:cNvSpPr>
          <p:nvPr>
            <p:ph type="sldNum" sz="quarter" idx="12"/>
          </p:nvPr>
        </p:nvSpPr>
        <p:spPr/>
        <p:txBody>
          <a:bodyPr/>
          <a:lstStyle/>
          <a:p>
            <a:fld id="{424570A0-3C5D-48CC-A9DB-EDDFA94DE3F8}" type="slidenum">
              <a:rPr lang="en-IN" sz="1400" smtClean="0">
                <a:latin typeface="Times New Roman" panose="02020603050405020304" pitchFamily="18" charset="0"/>
                <a:cs typeface="Times New Roman" panose="02020603050405020304" pitchFamily="18" charset="0"/>
              </a:rPr>
              <a:t>12</a:t>
            </a:fld>
            <a:endParaRPr lang="en-IN" sz="1400" dirty="0">
              <a:latin typeface="Times New Roman" panose="02020603050405020304" pitchFamily="18" charset="0"/>
              <a:cs typeface="Times New Roman" panose="02020603050405020304" pitchFamily="18" charset="0"/>
            </a:endParaRPr>
          </a:p>
        </p:txBody>
      </p:sp>
      <p:sp>
        <p:nvSpPr>
          <p:cNvPr id="8" name="Title 1">
            <a:extLst>
              <a:ext uri="{FF2B5EF4-FFF2-40B4-BE49-F238E27FC236}">
                <a16:creationId xmlns:a16="http://schemas.microsoft.com/office/drawing/2014/main" id="{8FE6E04D-9703-6A03-1576-AC18D64B22FF}"/>
              </a:ext>
            </a:extLst>
          </p:cNvPr>
          <p:cNvSpPr>
            <a:spLocks noGrp="1"/>
          </p:cNvSpPr>
          <p:nvPr>
            <p:ph type="title"/>
          </p:nvPr>
        </p:nvSpPr>
        <p:spPr>
          <a:xfrm>
            <a:off x="938658" y="363689"/>
            <a:ext cx="10515600" cy="723936"/>
          </a:xfrm>
        </p:spPr>
        <p:txBody>
          <a:bodyPr>
            <a:normAutofit/>
          </a:bodyPr>
          <a:lstStyle/>
          <a:p>
            <a:r>
              <a:rPr lang="en-IN" sz="2800" b="1"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BI-</a:t>
            </a:r>
            <a:r>
              <a:rPr lang="en-IN" sz="2800" b="1" spc="1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DIRECTIONAL </a:t>
            </a:r>
            <a:r>
              <a:rPr lang="en-IN" sz="2800" b="1"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LONG SHORT-TERM MEMORY (BI-LSTM)</a:t>
            </a:r>
            <a:endParaRPr lang="en-IN" sz="28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C67AE4DF-349F-2B32-EA75-A264EA1DC486}"/>
              </a:ext>
            </a:extLst>
          </p:cNvPr>
          <p:cNvSpPr txBox="1"/>
          <p:nvPr/>
        </p:nvSpPr>
        <p:spPr>
          <a:xfrm>
            <a:off x="505716" y="1205612"/>
            <a:ext cx="11381483" cy="474597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b="0" i="0" dirty="0">
                <a:solidFill>
                  <a:srgbClr val="212529"/>
                </a:solidFill>
                <a:effectLst/>
                <a:latin typeface="Times New Roman" panose="02020603050405020304" pitchFamily="18" charset="0"/>
                <a:cs typeface="Times New Roman" panose="02020603050405020304" pitchFamily="18" charset="0"/>
              </a:rPr>
              <a:t>In bidirectional LSTMs, each training sequence is presented forward and backward so as to separate recurrent nets. Both sequences are connected to the same output layer. Bidirectional LSTMs have complete information about every point in a given sequence, everything before and after it.</a:t>
            </a:r>
            <a:r>
              <a:rPr lang="en-US" sz="2000" dirty="0">
                <a:solidFill>
                  <a:srgbClr val="212529"/>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Using bidirectional will run your inputs in two ways, one from past to future and one from future to past.</a:t>
            </a: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b="1" dirty="0">
                <a:latin typeface="Times New Roman" panose="02020603050405020304" pitchFamily="18" charset="0"/>
                <a:cs typeface="Times New Roman" panose="02020603050405020304" pitchFamily="18" charset="0"/>
              </a:rPr>
              <a:t>FEATURES :</a:t>
            </a:r>
          </a:p>
          <a:p>
            <a:pPr marL="800100" lvl="1"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Bidirectional Processing</a:t>
            </a:r>
          </a:p>
          <a:p>
            <a:pPr marL="800100" lvl="1"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Robust</a:t>
            </a:r>
          </a:p>
          <a:p>
            <a:pPr marL="800100" lvl="1"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Attention Mechanisms</a:t>
            </a:r>
          </a:p>
          <a:p>
            <a:pPr marL="800100" lvl="1"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Ensemble and Stacking</a:t>
            </a:r>
          </a:p>
        </p:txBody>
      </p:sp>
    </p:spTree>
    <p:extLst>
      <p:ext uri="{BB962C8B-B14F-4D97-AF65-F5344CB8AC3E}">
        <p14:creationId xmlns:p14="http://schemas.microsoft.com/office/powerpoint/2010/main" val="20740040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C264CC0-861F-B7AB-9B30-712C44B6081A}"/>
              </a:ext>
            </a:extLst>
          </p:cNvPr>
          <p:cNvSpPr>
            <a:spLocks noGrp="1"/>
          </p:cNvSpPr>
          <p:nvPr>
            <p:ph type="dt" sz="half" idx="10"/>
          </p:nvPr>
        </p:nvSpPr>
        <p:spPr/>
        <p:txBody>
          <a:bodyPr/>
          <a:lstStyle/>
          <a:p>
            <a:fld id="{E0C8D39A-4115-48AA-9BFA-9653CA05BD75}" type="datetime1">
              <a:rPr lang="en-IN" sz="1400" smtClean="0">
                <a:latin typeface="Times New Roman" panose="02020603050405020304" pitchFamily="18" charset="0"/>
                <a:cs typeface="Times New Roman" panose="02020603050405020304" pitchFamily="18" charset="0"/>
              </a:rPr>
              <a:t>28-04-2023</a:t>
            </a:fld>
            <a:endParaRPr lang="en-IN"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0187ED9D-B008-8D20-2F27-0D5B773A614F}"/>
              </a:ext>
            </a:extLst>
          </p:cNvPr>
          <p:cNvSpPr>
            <a:spLocks noGrp="1"/>
          </p:cNvSpPr>
          <p:nvPr>
            <p:ph type="ftr" sz="quarter" idx="11"/>
          </p:nvPr>
        </p:nvSpPr>
        <p:spPr/>
        <p:txBody>
          <a:bodyPr/>
          <a:lstStyle/>
          <a:p>
            <a:r>
              <a:rPr lang="en-IN" sz="1400" dirty="0">
                <a:latin typeface="Times New Roman" panose="02020603050405020304" pitchFamily="18" charset="0"/>
                <a:cs typeface="Times New Roman" panose="02020603050405020304" pitchFamily="18" charset="0"/>
              </a:rPr>
              <a:t>SKCET / AI &amp; DS</a:t>
            </a:r>
          </a:p>
        </p:txBody>
      </p:sp>
      <p:sp>
        <p:nvSpPr>
          <p:cNvPr id="5" name="Slide Number Placeholder 4">
            <a:extLst>
              <a:ext uri="{FF2B5EF4-FFF2-40B4-BE49-F238E27FC236}">
                <a16:creationId xmlns:a16="http://schemas.microsoft.com/office/drawing/2014/main" id="{7C36B57F-6E1B-07D1-3921-F2B300318BA2}"/>
              </a:ext>
            </a:extLst>
          </p:cNvPr>
          <p:cNvSpPr>
            <a:spLocks noGrp="1"/>
          </p:cNvSpPr>
          <p:nvPr>
            <p:ph type="sldNum" sz="quarter" idx="12"/>
          </p:nvPr>
        </p:nvSpPr>
        <p:spPr/>
        <p:txBody>
          <a:bodyPr/>
          <a:lstStyle/>
          <a:p>
            <a:fld id="{424570A0-3C5D-48CC-A9DB-EDDFA94DE3F8}" type="slidenum">
              <a:rPr lang="en-IN" sz="1400" smtClean="0">
                <a:latin typeface="Times New Roman" panose="02020603050405020304" pitchFamily="18" charset="0"/>
                <a:cs typeface="Times New Roman" panose="02020603050405020304" pitchFamily="18" charset="0"/>
              </a:rPr>
              <a:t>13</a:t>
            </a:fld>
            <a:endParaRPr lang="en-IN" sz="1400" dirty="0">
              <a:latin typeface="Times New Roman" panose="02020603050405020304" pitchFamily="18" charset="0"/>
              <a:cs typeface="Times New Roman" panose="02020603050405020304" pitchFamily="18" charset="0"/>
            </a:endParaRPr>
          </a:p>
        </p:txBody>
      </p:sp>
      <p:sp>
        <p:nvSpPr>
          <p:cNvPr id="8" name="Title 1">
            <a:extLst>
              <a:ext uri="{FF2B5EF4-FFF2-40B4-BE49-F238E27FC236}">
                <a16:creationId xmlns:a16="http://schemas.microsoft.com/office/drawing/2014/main" id="{8FE6E04D-9703-6A03-1576-AC18D64B22FF}"/>
              </a:ext>
            </a:extLst>
          </p:cNvPr>
          <p:cNvSpPr>
            <a:spLocks noGrp="1"/>
          </p:cNvSpPr>
          <p:nvPr>
            <p:ph type="title"/>
          </p:nvPr>
        </p:nvSpPr>
        <p:spPr>
          <a:xfrm>
            <a:off x="838200" y="386136"/>
            <a:ext cx="10515600" cy="723936"/>
          </a:xfrm>
        </p:spPr>
        <p:txBody>
          <a:bodyPr>
            <a:normAutofit/>
          </a:bodyPr>
          <a:lstStyle/>
          <a:p>
            <a:r>
              <a:rPr lang="en-IN" sz="2800" b="1"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BI-LSTM ARCHITECTURE</a:t>
            </a:r>
            <a:endParaRPr lang="en-IN" sz="2800" b="1" dirty="0">
              <a:latin typeface="Times New Roman" panose="02020603050405020304" pitchFamily="18" charset="0"/>
              <a:cs typeface="Times New Roman" panose="02020603050405020304" pitchFamily="18" charset="0"/>
            </a:endParaRPr>
          </a:p>
        </p:txBody>
      </p:sp>
      <p:pic>
        <p:nvPicPr>
          <p:cNvPr id="2050" name="Picture 2" descr="Bidirectional LSTM (BiLSTM) Model - GM-RKB">
            <a:extLst>
              <a:ext uri="{FF2B5EF4-FFF2-40B4-BE49-F238E27FC236}">
                <a16:creationId xmlns:a16="http://schemas.microsoft.com/office/drawing/2014/main" id="{70F432BD-E30C-7C42-2095-1E56B74020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2501" y="1699575"/>
            <a:ext cx="8146997" cy="40483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9905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2B7B7F-D014-4604-C149-6EC4D9761D0C}"/>
              </a:ext>
            </a:extLst>
          </p:cNvPr>
          <p:cNvSpPr>
            <a:spLocks noGrp="1"/>
          </p:cNvSpPr>
          <p:nvPr>
            <p:ph type="dt" sz="half" idx="10"/>
          </p:nvPr>
        </p:nvSpPr>
        <p:spPr/>
        <p:txBody>
          <a:bodyPr/>
          <a:lstStyle/>
          <a:p>
            <a:fld id="{2EBB1897-41CA-490A-9D5E-D08B9FE860E5}" type="datetime1">
              <a:rPr lang="en-IN" smtClean="0"/>
              <a:t>28-04-2023</a:t>
            </a:fld>
            <a:endParaRPr lang="en-IN"/>
          </a:p>
        </p:txBody>
      </p:sp>
      <p:sp>
        <p:nvSpPr>
          <p:cNvPr id="5" name="Footer Placeholder 4">
            <a:extLst>
              <a:ext uri="{FF2B5EF4-FFF2-40B4-BE49-F238E27FC236}">
                <a16:creationId xmlns:a16="http://schemas.microsoft.com/office/drawing/2014/main" id="{47EC8CBC-23D2-E09E-3292-71921BCC2A8F}"/>
              </a:ext>
            </a:extLst>
          </p:cNvPr>
          <p:cNvSpPr>
            <a:spLocks noGrp="1"/>
          </p:cNvSpPr>
          <p:nvPr>
            <p:ph type="ftr" sz="quarter" idx="11"/>
          </p:nvPr>
        </p:nvSpPr>
        <p:spPr/>
        <p:txBody>
          <a:bodyPr/>
          <a:lstStyle/>
          <a:p>
            <a:r>
              <a:rPr lang="en-IN"/>
              <a:t>SKCET / AI &amp; DS</a:t>
            </a:r>
          </a:p>
        </p:txBody>
      </p:sp>
      <p:sp>
        <p:nvSpPr>
          <p:cNvPr id="6" name="Slide Number Placeholder 5">
            <a:extLst>
              <a:ext uri="{FF2B5EF4-FFF2-40B4-BE49-F238E27FC236}">
                <a16:creationId xmlns:a16="http://schemas.microsoft.com/office/drawing/2014/main" id="{BF4DA1A7-E5DC-1690-6B39-E11986A22D8D}"/>
              </a:ext>
            </a:extLst>
          </p:cNvPr>
          <p:cNvSpPr>
            <a:spLocks noGrp="1"/>
          </p:cNvSpPr>
          <p:nvPr>
            <p:ph type="sldNum" sz="quarter" idx="12"/>
          </p:nvPr>
        </p:nvSpPr>
        <p:spPr/>
        <p:txBody>
          <a:bodyPr/>
          <a:lstStyle/>
          <a:p>
            <a:fld id="{424570A0-3C5D-48CC-A9DB-EDDFA94DE3F8}" type="slidenum">
              <a:rPr lang="en-IN" smtClean="0"/>
              <a:t>14</a:t>
            </a:fld>
            <a:endParaRPr lang="en-IN"/>
          </a:p>
        </p:txBody>
      </p:sp>
      <p:sp>
        <p:nvSpPr>
          <p:cNvPr id="8" name="Title 1">
            <a:extLst>
              <a:ext uri="{FF2B5EF4-FFF2-40B4-BE49-F238E27FC236}">
                <a16:creationId xmlns:a16="http://schemas.microsoft.com/office/drawing/2014/main" id="{63AC963C-B439-E65D-32D7-0D0B3B171975}"/>
              </a:ext>
            </a:extLst>
          </p:cNvPr>
          <p:cNvSpPr txBox="1">
            <a:spLocks/>
          </p:cNvSpPr>
          <p:nvPr/>
        </p:nvSpPr>
        <p:spPr>
          <a:xfrm>
            <a:off x="2868390" y="264170"/>
            <a:ext cx="7184923" cy="55668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IN" sz="2800" b="1" spc="1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RECURRENT NEURAL NETWORK (RNN)</a:t>
            </a:r>
            <a:endParaRPr lang="en-IN" sz="28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58DE89FA-C825-4AD1-DBFC-972ABF89774D}"/>
              </a:ext>
            </a:extLst>
          </p:cNvPr>
          <p:cNvSpPr txBox="1"/>
          <p:nvPr/>
        </p:nvSpPr>
        <p:spPr>
          <a:xfrm>
            <a:off x="364852" y="948673"/>
            <a:ext cx="11462295" cy="520764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Recurrent Neural Network(RNN) is a type of Neural Network where the output from the previous step are fed as input to the current step. Recurrent Neural Networks (RNNs) are a class of neural networks designed for processing sequential data, where the order of elements in the sequence is significant. RNNs have a recurrent connection that allows them to maintain internal memory and capture temporal dependencies. RNN have a “memory” which remembers all information about what has been calculated.</a:t>
            </a:r>
          </a:p>
          <a:p>
            <a:pPr marL="285750" indent="-285750">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FEATURES :</a:t>
            </a:r>
          </a:p>
          <a:p>
            <a:pPr marL="742950" lvl="1"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Backpropagation</a:t>
            </a:r>
          </a:p>
          <a:p>
            <a:pPr marL="742950" lvl="1"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Maintaining Memory</a:t>
            </a:r>
          </a:p>
          <a:p>
            <a:pPr marL="742950" lvl="1"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Language Modeling</a:t>
            </a:r>
          </a:p>
          <a:p>
            <a:pPr marL="742950" lvl="1"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Bi-directional Processing</a:t>
            </a:r>
          </a:p>
        </p:txBody>
      </p:sp>
    </p:spTree>
    <p:extLst>
      <p:ext uri="{BB962C8B-B14F-4D97-AF65-F5344CB8AC3E}">
        <p14:creationId xmlns:p14="http://schemas.microsoft.com/office/powerpoint/2010/main" val="2112287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2B7B7F-D014-4604-C149-6EC4D9761D0C}"/>
              </a:ext>
            </a:extLst>
          </p:cNvPr>
          <p:cNvSpPr>
            <a:spLocks noGrp="1"/>
          </p:cNvSpPr>
          <p:nvPr>
            <p:ph type="dt" sz="half" idx="10"/>
          </p:nvPr>
        </p:nvSpPr>
        <p:spPr/>
        <p:txBody>
          <a:bodyPr/>
          <a:lstStyle/>
          <a:p>
            <a:fld id="{2EBB1897-41CA-490A-9D5E-D08B9FE860E5}" type="datetime1">
              <a:rPr lang="en-IN" smtClean="0"/>
              <a:t>28-04-2023</a:t>
            </a:fld>
            <a:endParaRPr lang="en-IN"/>
          </a:p>
        </p:txBody>
      </p:sp>
      <p:sp>
        <p:nvSpPr>
          <p:cNvPr id="5" name="Footer Placeholder 4">
            <a:extLst>
              <a:ext uri="{FF2B5EF4-FFF2-40B4-BE49-F238E27FC236}">
                <a16:creationId xmlns:a16="http://schemas.microsoft.com/office/drawing/2014/main" id="{47EC8CBC-23D2-E09E-3292-71921BCC2A8F}"/>
              </a:ext>
            </a:extLst>
          </p:cNvPr>
          <p:cNvSpPr>
            <a:spLocks noGrp="1"/>
          </p:cNvSpPr>
          <p:nvPr>
            <p:ph type="ftr" sz="quarter" idx="11"/>
          </p:nvPr>
        </p:nvSpPr>
        <p:spPr/>
        <p:txBody>
          <a:bodyPr/>
          <a:lstStyle/>
          <a:p>
            <a:r>
              <a:rPr lang="en-IN"/>
              <a:t>SKCET / AI &amp; DS</a:t>
            </a:r>
          </a:p>
        </p:txBody>
      </p:sp>
      <p:sp>
        <p:nvSpPr>
          <p:cNvPr id="6" name="Slide Number Placeholder 5">
            <a:extLst>
              <a:ext uri="{FF2B5EF4-FFF2-40B4-BE49-F238E27FC236}">
                <a16:creationId xmlns:a16="http://schemas.microsoft.com/office/drawing/2014/main" id="{BF4DA1A7-E5DC-1690-6B39-E11986A22D8D}"/>
              </a:ext>
            </a:extLst>
          </p:cNvPr>
          <p:cNvSpPr>
            <a:spLocks noGrp="1"/>
          </p:cNvSpPr>
          <p:nvPr>
            <p:ph type="sldNum" sz="quarter" idx="12"/>
          </p:nvPr>
        </p:nvSpPr>
        <p:spPr/>
        <p:txBody>
          <a:bodyPr/>
          <a:lstStyle/>
          <a:p>
            <a:fld id="{424570A0-3C5D-48CC-A9DB-EDDFA94DE3F8}" type="slidenum">
              <a:rPr lang="en-IN" smtClean="0"/>
              <a:t>15</a:t>
            </a:fld>
            <a:endParaRPr lang="en-IN"/>
          </a:p>
        </p:txBody>
      </p:sp>
      <p:sp>
        <p:nvSpPr>
          <p:cNvPr id="8" name="Title 1">
            <a:extLst>
              <a:ext uri="{FF2B5EF4-FFF2-40B4-BE49-F238E27FC236}">
                <a16:creationId xmlns:a16="http://schemas.microsoft.com/office/drawing/2014/main" id="{63AC963C-B439-E65D-32D7-0D0B3B171975}"/>
              </a:ext>
            </a:extLst>
          </p:cNvPr>
          <p:cNvSpPr txBox="1">
            <a:spLocks/>
          </p:cNvSpPr>
          <p:nvPr/>
        </p:nvSpPr>
        <p:spPr>
          <a:xfrm>
            <a:off x="838200" y="372801"/>
            <a:ext cx="10515600" cy="58618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IN" sz="2800" b="1" spc="1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RNN ARCHITECTURE</a:t>
            </a:r>
            <a:endParaRPr lang="en-IN" sz="2800" b="1" dirty="0">
              <a:latin typeface="Times New Roman" panose="02020603050405020304" pitchFamily="18" charset="0"/>
              <a:cs typeface="Times New Roman" panose="02020603050405020304" pitchFamily="18" charset="0"/>
            </a:endParaRPr>
          </a:p>
        </p:txBody>
      </p:sp>
      <p:pic>
        <p:nvPicPr>
          <p:cNvPr id="3074" name="Picture 2" descr="RNN (Recurrent Neural Network) Tutorial: TensorFlow Example">
            <a:extLst>
              <a:ext uri="{FF2B5EF4-FFF2-40B4-BE49-F238E27FC236}">
                <a16:creationId xmlns:a16="http://schemas.microsoft.com/office/drawing/2014/main" id="{664ACCFB-7679-83BF-AC3B-7A7292E30D6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678" b="13620"/>
          <a:stretch/>
        </p:blipFill>
        <p:spPr bwMode="auto">
          <a:xfrm>
            <a:off x="2068861" y="1416312"/>
            <a:ext cx="8054278" cy="40253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71887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42B7B7F-D014-4604-C149-6EC4D9761D0C}"/>
              </a:ext>
            </a:extLst>
          </p:cNvPr>
          <p:cNvSpPr>
            <a:spLocks noGrp="1"/>
          </p:cNvSpPr>
          <p:nvPr>
            <p:ph type="dt" sz="half" idx="10"/>
          </p:nvPr>
        </p:nvSpPr>
        <p:spPr/>
        <p:txBody>
          <a:bodyPr/>
          <a:lstStyle/>
          <a:p>
            <a:fld id="{2EBB1897-41CA-490A-9D5E-D08B9FE860E5}" type="datetime1">
              <a:rPr lang="en-IN" smtClean="0"/>
              <a:t>28-04-2023</a:t>
            </a:fld>
            <a:endParaRPr lang="en-IN"/>
          </a:p>
        </p:txBody>
      </p:sp>
      <p:sp>
        <p:nvSpPr>
          <p:cNvPr id="5" name="Footer Placeholder 4">
            <a:extLst>
              <a:ext uri="{FF2B5EF4-FFF2-40B4-BE49-F238E27FC236}">
                <a16:creationId xmlns:a16="http://schemas.microsoft.com/office/drawing/2014/main" id="{47EC8CBC-23D2-E09E-3292-71921BCC2A8F}"/>
              </a:ext>
            </a:extLst>
          </p:cNvPr>
          <p:cNvSpPr>
            <a:spLocks noGrp="1"/>
          </p:cNvSpPr>
          <p:nvPr>
            <p:ph type="ftr" sz="quarter" idx="11"/>
          </p:nvPr>
        </p:nvSpPr>
        <p:spPr/>
        <p:txBody>
          <a:bodyPr/>
          <a:lstStyle/>
          <a:p>
            <a:r>
              <a:rPr lang="en-IN"/>
              <a:t>SKCET / AI &amp; DS</a:t>
            </a:r>
          </a:p>
        </p:txBody>
      </p:sp>
      <p:sp>
        <p:nvSpPr>
          <p:cNvPr id="6" name="Slide Number Placeholder 5">
            <a:extLst>
              <a:ext uri="{FF2B5EF4-FFF2-40B4-BE49-F238E27FC236}">
                <a16:creationId xmlns:a16="http://schemas.microsoft.com/office/drawing/2014/main" id="{BF4DA1A7-E5DC-1690-6B39-E11986A22D8D}"/>
              </a:ext>
            </a:extLst>
          </p:cNvPr>
          <p:cNvSpPr>
            <a:spLocks noGrp="1"/>
          </p:cNvSpPr>
          <p:nvPr>
            <p:ph type="sldNum" sz="quarter" idx="12"/>
          </p:nvPr>
        </p:nvSpPr>
        <p:spPr/>
        <p:txBody>
          <a:bodyPr/>
          <a:lstStyle/>
          <a:p>
            <a:fld id="{424570A0-3C5D-48CC-A9DB-EDDFA94DE3F8}" type="slidenum">
              <a:rPr lang="en-IN" smtClean="0"/>
              <a:t>16</a:t>
            </a:fld>
            <a:endParaRPr lang="en-IN"/>
          </a:p>
        </p:txBody>
      </p:sp>
      <p:sp>
        <p:nvSpPr>
          <p:cNvPr id="8" name="Title 1">
            <a:extLst>
              <a:ext uri="{FF2B5EF4-FFF2-40B4-BE49-F238E27FC236}">
                <a16:creationId xmlns:a16="http://schemas.microsoft.com/office/drawing/2014/main" id="{63AC963C-B439-E65D-32D7-0D0B3B171975}"/>
              </a:ext>
            </a:extLst>
          </p:cNvPr>
          <p:cNvSpPr txBox="1">
            <a:spLocks/>
          </p:cNvSpPr>
          <p:nvPr/>
        </p:nvSpPr>
        <p:spPr>
          <a:xfrm>
            <a:off x="4909897" y="211621"/>
            <a:ext cx="2372204" cy="55668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spc="1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F</a:t>
            </a:r>
            <a:r>
              <a:rPr lang="en-IN" sz="2800" b="1" spc="1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BPROPHET</a:t>
            </a:r>
            <a:endParaRPr lang="en-IN" sz="28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58DE89FA-C825-4AD1-DBFC-972ABF89774D}"/>
              </a:ext>
            </a:extLst>
          </p:cNvPr>
          <p:cNvSpPr txBox="1"/>
          <p:nvPr/>
        </p:nvSpPr>
        <p:spPr>
          <a:xfrm>
            <a:off x="423847" y="930336"/>
            <a:ext cx="11542013" cy="5115311"/>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FBProphet</a:t>
            </a:r>
            <a:r>
              <a:rPr lang="en-US" sz="2000" dirty="0">
                <a:latin typeface="Times New Roman" panose="02020603050405020304" pitchFamily="18" charset="0"/>
                <a:cs typeface="Times New Roman" panose="02020603050405020304" pitchFamily="18" charset="0"/>
              </a:rPr>
              <a:t> is a forecasting library open-sourced by Facebook's Core Data Science team. It is based on an additive model where non-linear trends are fit with yearly, weekly, and daily seasonality, plus holiday effects. It allows for modeling of multiple seasonality, changing growth rates, and can automatically detect changes in trends by implementing a piecewise linear regression model.</a:t>
            </a: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b="1" dirty="0">
                <a:latin typeface="Times New Roman" panose="02020603050405020304" pitchFamily="18" charset="0"/>
                <a:cs typeface="Times New Roman" panose="02020603050405020304" pitchFamily="18" charset="0"/>
              </a:rPr>
              <a:t>FEATURES :</a:t>
            </a: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User-friendly interface</a:t>
            </a:r>
          </a:p>
          <a:p>
            <a:pPr marL="28575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Highly Customizable</a:t>
            </a:r>
          </a:p>
          <a:p>
            <a:pPr marL="28575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Minimal Code</a:t>
            </a:r>
          </a:p>
          <a:p>
            <a:pPr marL="285750" indent="-285750" algn="just">
              <a:lnSpc>
                <a:spcPct val="150000"/>
              </a:lnSpc>
              <a:buFont typeface="Arial" panose="020B0604020202020204" pitchFamily="34" charset="0"/>
              <a:buChar char="•"/>
            </a:pPr>
            <a:r>
              <a:rPr lang="en-IN" sz="2000" dirty="0" err="1">
                <a:latin typeface="Times New Roman" panose="02020603050405020304" pitchFamily="18" charset="0"/>
                <a:cs typeface="Times New Roman" panose="02020603050405020304" pitchFamily="18" charset="0"/>
              </a:rPr>
              <a:t>Tunable</a:t>
            </a:r>
            <a:r>
              <a:rPr lang="en-IN" sz="2000" dirty="0">
                <a:latin typeface="Times New Roman" panose="02020603050405020304" pitchFamily="18" charset="0"/>
                <a:cs typeface="Times New Roman" panose="02020603050405020304" pitchFamily="18" charset="0"/>
              </a:rPr>
              <a:t> Forecasts.</a:t>
            </a:r>
          </a:p>
          <a:p>
            <a:pPr marL="28575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Fully Automatic.</a:t>
            </a:r>
          </a:p>
        </p:txBody>
      </p:sp>
    </p:spTree>
    <p:extLst>
      <p:ext uri="{BB962C8B-B14F-4D97-AF65-F5344CB8AC3E}">
        <p14:creationId xmlns:p14="http://schemas.microsoft.com/office/powerpoint/2010/main" val="29985551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A1793-95D3-EC76-3645-7B89003629C5}"/>
              </a:ext>
            </a:extLst>
          </p:cNvPr>
          <p:cNvSpPr>
            <a:spLocks noGrp="1"/>
          </p:cNvSpPr>
          <p:nvPr>
            <p:ph type="title"/>
          </p:nvPr>
        </p:nvSpPr>
        <p:spPr>
          <a:xfrm>
            <a:off x="838200" y="424449"/>
            <a:ext cx="10515600" cy="703387"/>
          </a:xfrm>
        </p:spPr>
        <p:txBody>
          <a:bodyPr>
            <a:normAutofit/>
          </a:bodyPr>
          <a:lstStyle/>
          <a:p>
            <a:r>
              <a:rPr lang="en-IN" sz="2800" b="1" dirty="0">
                <a:latin typeface="Times New Roman" panose="02020603050405020304" pitchFamily="18" charset="0"/>
                <a:cs typeface="Times New Roman" panose="02020603050405020304" pitchFamily="18" charset="0"/>
              </a:rPr>
              <a:t>EFFICIENCY OF THE PROPOSED SYSTEM</a:t>
            </a:r>
          </a:p>
        </p:txBody>
      </p:sp>
      <p:sp>
        <p:nvSpPr>
          <p:cNvPr id="6" name="Content Placeholder 5">
            <a:extLst>
              <a:ext uri="{FF2B5EF4-FFF2-40B4-BE49-F238E27FC236}">
                <a16:creationId xmlns:a16="http://schemas.microsoft.com/office/drawing/2014/main" id="{B0353FAF-DDBF-6D40-D7F0-F4C57785AD96}"/>
              </a:ext>
            </a:extLst>
          </p:cNvPr>
          <p:cNvSpPr>
            <a:spLocks noGrp="1"/>
          </p:cNvSpPr>
          <p:nvPr>
            <p:ph idx="1"/>
          </p:nvPr>
        </p:nvSpPr>
        <p:spPr>
          <a:xfrm>
            <a:off x="838200" y="1825625"/>
            <a:ext cx="5028344" cy="4351338"/>
          </a:xfrm>
        </p:spPr>
        <p:txBody>
          <a:bodyPr numCol="1">
            <a:normAutofit/>
          </a:bodyPr>
          <a:lstStyle/>
          <a:p>
            <a:pPr marL="0" indent="0">
              <a:buNone/>
            </a:pPr>
            <a:r>
              <a:rPr lang="en-IN" sz="2400" b="1" dirty="0">
                <a:latin typeface="Times New Roman" panose="02020603050405020304" pitchFamily="18" charset="0"/>
                <a:cs typeface="Times New Roman" panose="02020603050405020304" pitchFamily="18" charset="0"/>
              </a:rPr>
              <a:t>EXISTING SOLUTION</a:t>
            </a:r>
          </a:p>
          <a:p>
            <a:pPr marL="0" indent="0">
              <a:buNone/>
            </a:pPr>
            <a:endParaRPr lang="en-IN"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DATASET - Static</a:t>
            </a:r>
          </a:p>
          <a:p>
            <a:pPr marL="0" indent="0">
              <a:buNone/>
            </a:pPr>
            <a:endParaRPr lang="en-IN"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ALGORITHM USED :</a:t>
            </a:r>
          </a:p>
          <a:p>
            <a:pPr marL="0" indent="0">
              <a:buNone/>
            </a:pPr>
            <a:endParaRPr lang="en-IN" sz="2400" dirty="0">
              <a:latin typeface="Times New Roman" panose="02020603050405020304" pitchFamily="18" charset="0"/>
              <a:cs typeface="Times New Roman" panose="02020603050405020304" pitchFamily="18" charset="0"/>
            </a:endParaRPr>
          </a:p>
          <a:p>
            <a:pPr lvl="1"/>
            <a:r>
              <a:rPr lang="en-IN" dirty="0">
                <a:latin typeface="Times New Roman" panose="02020603050405020304" pitchFamily="18" charset="0"/>
                <a:cs typeface="Times New Roman" panose="02020603050405020304" pitchFamily="18" charset="0"/>
              </a:rPr>
              <a:t>Multi-layered Sequential </a:t>
            </a:r>
          </a:p>
          <a:p>
            <a:pPr marL="457200" lvl="1" indent="0">
              <a:buNone/>
            </a:pPr>
            <a:r>
              <a:rPr lang="en-IN" dirty="0">
                <a:latin typeface="Times New Roman" panose="02020603050405020304" pitchFamily="18" charset="0"/>
                <a:cs typeface="Times New Roman" panose="02020603050405020304" pitchFamily="18" charset="0"/>
              </a:rPr>
              <a:t>LSTM – 2% Loss</a:t>
            </a:r>
          </a:p>
          <a:p>
            <a:pPr lvl="1"/>
            <a:endParaRPr lang="en-IN" dirty="0">
              <a:latin typeface="Times New Roman" panose="02020603050405020304" pitchFamily="18" charset="0"/>
              <a:cs typeface="Times New Roman" panose="02020603050405020304" pitchFamily="18" charset="0"/>
            </a:endParaRPr>
          </a:p>
          <a:p>
            <a:pPr lvl="1"/>
            <a:endParaRPr lang="en-IN" dirty="0">
              <a:latin typeface="Times New Roman" panose="02020603050405020304" pitchFamily="18" charset="0"/>
              <a:cs typeface="Times New Roman" panose="02020603050405020304" pitchFamily="18" charset="0"/>
            </a:endParaRPr>
          </a:p>
          <a:p>
            <a:pPr lvl="1"/>
            <a:endParaRPr lang="en-IN" dirty="0">
              <a:latin typeface="Times New Roman" panose="02020603050405020304" pitchFamily="18" charset="0"/>
              <a:cs typeface="Times New Roman" panose="02020603050405020304" pitchFamily="18" charset="0"/>
            </a:endParaRPr>
          </a:p>
          <a:p>
            <a:pPr lvl="1"/>
            <a:endParaRPr lang="en-IN" dirty="0">
              <a:latin typeface="Times New Roman" panose="02020603050405020304" pitchFamily="18" charset="0"/>
              <a:cs typeface="Times New Roman" panose="02020603050405020304" pitchFamily="18" charset="0"/>
            </a:endParaRPr>
          </a:p>
        </p:txBody>
      </p:sp>
      <p:sp>
        <p:nvSpPr>
          <p:cNvPr id="3" name="Content Placeholder 5">
            <a:extLst>
              <a:ext uri="{FF2B5EF4-FFF2-40B4-BE49-F238E27FC236}">
                <a16:creationId xmlns:a16="http://schemas.microsoft.com/office/drawing/2014/main" id="{1B06FF83-2F23-15F0-27BF-AE18B3F464BE}"/>
              </a:ext>
            </a:extLst>
          </p:cNvPr>
          <p:cNvSpPr txBox="1">
            <a:spLocks/>
          </p:cNvSpPr>
          <p:nvPr/>
        </p:nvSpPr>
        <p:spPr>
          <a:xfrm>
            <a:off x="6405080" y="1822450"/>
            <a:ext cx="4948720" cy="4351338"/>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2400" b="1" dirty="0">
                <a:latin typeface="Times New Roman" panose="02020603050405020304" pitchFamily="18" charset="0"/>
                <a:cs typeface="Times New Roman" panose="02020603050405020304" pitchFamily="18" charset="0"/>
              </a:rPr>
              <a:t>PROPOSED SOLUTION</a:t>
            </a:r>
          </a:p>
          <a:p>
            <a:pPr marL="0" indent="0">
              <a:buNone/>
            </a:pPr>
            <a:endParaRPr lang="en-IN"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DATASET - Dynamic</a:t>
            </a:r>
          </a:p>
          <a:p>
            <a:pPr>
              <a:buFont typeface="Wingdings" panose="05000000000000000000" pitchFamily="2" charset="2"/>
              <a:buChar char="§"/>
            </a:pPr>
            <a:endParaRPr lang="en-IN"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ALGORITHM USED :</a:t>
            </a:r>
          </a:p>
          <a:p>
            <a:pPr marL="0" indent="0">
              <a:buNone/>
            </a:pPr>
            <a:endParaRPr lang="en-IN" sz="2400" dirty="0">
              <a:latin typeface="Times New Roman" panose="02020603050405020304" pitchFamily="18" charset="0"/>
              <a:cs typeface="Times New Roman" panose="02020603050405020304" pitchFamily="18" charset="0"/>
            </a:endParaRPr>
          </a:p>
          <a:p>
            <a:pPr lvl="1"/>
            <a:r>
              <a:rPr lang="en-IN" dirty="0">
                <a:latin typeface="Times New Roman" panose="02020603050405020304" pitchFamily="18" charset="0"/>
                <a:cs typeface="Times New Roman" panose="02020603050405020304" pitchFamily="18" charset="0"/>
              </a:rPr>
              <a:t>LSTM       - 0.063 % Loss</a:t>
            </a:r>
          </a:p>
          <a:p>
            <a:pPr lvl="1"/>
            <a:r>
              <a:rPr lang="en-IN" dirty="0">
                <a:latin typeface="Times New Roman" panose="02020603050405020304" pitchFamily="18" charset="0"/>
                <a:cs typeface="Times New Roman" panose="02020603050405020304" pitchFamily="18" charset="0"/>
              </a:rPr>
              <a:t>BI-LSTM  - 0.088 % Loss</a:t>
            </a:r>
          </a:p>
          <a:p>
            <a:pPr lvl="1"/>
            <a:r>
              <a:rPr lang="en-IN" dirty="0">
                <a:latin typeface="Times New Roman" panose="02020603050405020304" pitchFamily="18" charset="0"/>
                <a:cs typeface="Times New Roman" panose="02020603050405020304" pitchFamily="18" charset="0"/>
              </a:rPr>
              <a:t>RNN          - 0.285 % Loss </a:t>
            </a:r>
          </a:p>
          <a:p>
            <a:pPr lvl="1"/>
            <a:endParaRPr lang="en-IN" dirty="0">
              <a:latin typeface="Times New Roman" panose="02020603050405020304" pitchFamily="18" charset="0"/>
              <a:cs typeface="Times New Roman" panose="02020603050405020304" pitchFamily="18" charset="0"/>
            </a:endParaRPr>
          </a:p>
          <a:p>
            <a:pPr lvl="1"/>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FB5A62EC-01EF-04AD-58CA-C57487FF4929}"/>
              </a:ext>
            </a:extLst>
          </p:cNvPr>
          <p:cNvSpPr>
            <a:spLocks noGrp="1"/>
          </p:cNvSpPr>
          <p:nvPr>
            <p:ph type="dt" sz="half" idx="10"/>
          </p:nvPr>
        </p:nvSpPr>
        <p:spPr/>
        <p:txBody>
          <a:bodyPr/>
          <a:lstStyle/>
          <a:p>
            <a:fld id="{6F3427CB-4519-45D7-9F46-5FAEA28C244A}" type="datetime1">
              <a:rPr lang="en-IN" sz="1400" smtClean="0">
                <a:latin typeface="Times New Roman" panose="02020603050405020304" pitchFamily="18" charset="0"/>
                <a:cs typeface="Times New Roman" panose="02020603050405020304" pitchFamily="18" charset="0"/>
              </a:rPr>
              <a:t>28-04-2023</a:t>
            </a:fld>
            <a:endParaRPr lang="en-IN"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E4D5C50B-C9BA-235B-9AFF-00E5D896FBBD}"/>
              </a:ext>
            </a:extLst>
          </p:cNvPr>
          <p:cNvSpPr>
            <a:spLocks noGrp="1"/>
          </p:cNvSpPr>
          <p:nvPr>
            <p:ph type="ftr" sz="quarter" idx="11"/>
          </p:nvPr>
        </p:nvSpPr>
        <p:spPr/>
        <p:txBody>
          <a:bodyPr/>
          <a:lstStyle/>
          <a:p>
            <a:r>
              <a:rPr lang="en-IN" sz="1400" dirty="0">
                <a:latin typeface="Times New Roman" panose="02020603050405020304" pitchFamily="18" charset="0"/>
                <a:cs typeface="Times New Roman" panose="02020603050405020304" pitchFamily="18" charset="0"/>
              </a:rPr>
              <a:t>SKCET / AI &amp; DS</a:t>
            </a:r>
          </a:p>
        </p:txBody>
      </p:sp>
      <p:sp>
        <p:nvSpPr>
          <p:cNvPr id="7" name="Slide Number Placeholder 6">
            <a:extLst>
              <a:ext uri="{FF2B5EF4-FFF2-40B4-BE49-F238E27FC236}">
                <a16:creationId xmlns:a16="http://schemas.microsoft.com/office/drawing/2014/main" id="{795B4AD0-A440-F223-A296-7436D157AC55}"/>
              </a:ext>
            </a:extLst>
          </p:cNvPr>
          <p:cNvSpPr>
            <a:spLocks noGrp="1"/>
          </p:cNvSpPr>
          <p:nvPr>
            <p:ph type="sldNum" sz="quarter" idx="12"/>
          </p:nvPr>
        </p:nvSpPr>
        <p:spPr/>
        <p:txBody>
          <a:bodyPr/>
          <a:lstStyle/>
          <a:p>
            <a:fld id="{424570A0-3C5D-48CC-A9DB-EDDFA94DE3F8}" type="slidenum">
              <a:rPr lang="en-IN" sz="1400" smtClean="0">
                <a:latin typeface="Times New Roman" panose="02020603050405020304" pitchFamily="18" charset="0"/>
                <a:cs typeface="Times New Roman" panose="02020603050405020304" pitchFamily="18" charset="0"/>
              </a:rPr>
              <a:t>17</a:t>
            </a:fld>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03490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97B6C6D-D067-3EAE-4C86-06A8FA037A2F}"/>
              </a:ext>
            </a:extLst>
          </p:cNvPr>
          <p:cNvSpPr txBox="1"/>
          <p:nvPr/>
        </p:nvSpPr>
        <p:spPr>
          <a:xfrm>
            <a:off x="1815101" y="5479980"/>
            <a:ext cx="3702122" cy="461665"/>
          </a:xfrm>
          <a:prstGeom prst="rect">
            <a:avLst/>
          </a:prstGeom>
          <a:noFill/>
        </p:spPr>
        <p:txBody>
          <a:bodyPr wrap="square">
            <a:spAutoFit/>
          </a:bodyPr>
          <a:lstStyle/>
          <a:p>
            <a:r>
              <a:rPr lang="en-IN" sz="2400" b="1" dirty="0">
                <a:effectLst/>
                <a:latin typeface="Times New Roman" panose="02020603050405020304" pitchFamily="18" charset="0"/>
                <a:ea typeface="Calibri" panose="020F0502020204030204" pitchFamily="34" charset="0"/>
                <a:cs typeface="Times New Roman" panose="02020603050405020304" pitchFamily="18" charset="0"/>
              </a:rPr>
              <a:t>RNN MODEL</a:t>
            </a:r>
            <a:endParaRPr lang="en-IN" sz="24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B18CFFA-9F95-8F17-9FA4-081E5FDF3CCA}"/>
              </a:ext>
            </a:extLst>
          </p:cNvPr>
          <p:cNvSpPr txBox="1"/>
          <p:nvPr/>
        </p:nvSpPr>
        <p:spPr>
          <a:xfrm>
            <a:off x="7918806" y="5476126"/>
            <a:ext cx="2684124" cy="462306"/>
          </a:xfrm>
          <a:prstGeom prst="rect">
            <a:avLst/>
          </a:prstGeom>
          <a:noFill/>
        </p:spPr>
        <p:txBody>
          <a:bodyPr wrap="square">
            <a:spAutoFit/>
          </a:bodyPr>
          <a:lstStyle/>
          <a:p>
            <a:pPr algn="ctr">
              <a:lnSpc>
                <a:spcPct val="107000"/>
              </a:lnSpc>
              <a:spcAft>
                <a:spcPts val="800"/>
              </a:spcAft>
            </a:pPr>
            <a:r>
              <a:rPr lang="en-IN" sz="2400" b="1" dirty="0">
                <a:effectLst/>
                <a:latin typeface="Times New Roman" panose="02020603050405020304" pitchFamily="18" charset="0"/>
                <a:ea typeface="Calibri" panose="020F0502020204030204" pitchFamily="34" charset="0"/>
                <a:cs typeface="Times New Roman" panose="02020603050405020304" pitchFamily="18" charset="0"/>
              </a:rPr>
              <a:t>LSTM MODEL</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BA7046A6-8E16-4BD8-9940-8C879D03FD6A}"/>
              </a:ext>
            </a:extLst>
          </p:cNvPr>
          <p:cNvSpPr txBox="1"/>
          <p:nvPr/>
        </p:nvSpPr>
        <p:spPr>
          <a:xfrm>
            <a:off x="4601551" y="322344"/>
            <a:ext cx="2799911"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LOSS RESULTS</a:t>
            </a:r>
          </a:p>
        </p:txBody>
      </p:sp>
      <p:sp>
        <p:nvSpPr>
          <p:cNvPr id="4" name="Date Placeholder 3">
            <a:extLst>
              <a:ext uri="{FF2B5EF4-FFF2-40B4-BE49-F238E27FC236}">
                <a16:creationId xmlns:a16="http://schemas.microsoft.com/office/drawing/2014/main" id="{0226BF5B-05B7-6C99-B654-6BF12703920D}"/>
              </a:ext>
            </a:extLst>
          </p:cNvPr>
          <p:cNvSpPr>
            <a:spLocks noGrp="1"/>
          </p:cNvSpPr>
          <p:nvPr>
            <p:ph type="dt" sz="half" idx="10"/>
          </p:nvPr>
        </p:nvSpPr>
        <p:spPr/>
        <p:txBody>
          <a:bodyPr/>
          <a:lstStyle/>
          <a:p>
            <a:fld id="{EABB7127-C2EF-48FB-AF97-3FD388FE50FB}" type="datetime1">
              <a:rPr lang="en-IN" sz="1400" smtClean="0">
                <a:latin typeface="Times New Roman" panose="02020603050405020304" pitchFamily="18" charset="0"/>
                <a:cs typeface="Times New Roman" panose="02020603050405020304" pitchFamily="18" charset="0"/>
              </a:rPr>
              <a:t>28-04-2023</a:t>
            </a:fld>
            <a:endParaRPr lang="en-IN"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8ECCA9D3-1FBB-6436-CF56-AF3F6013467B}"/>
              </a:ext>
            </a:extLst>
          </p:cNvPr>
          <p:cNvSpPr>
            <a:spLocks noGrp="1"/>
          </p:cNvSpPr>
          <p:nvPr>
            <p:ph type="ftr" sz="quarter" idx="11"/>
          </p:nvPr>
        </p:nvSpPr>
        <p:spPr/>
        <p:txBody>
          <a:bodyPr/>
          <a:lstStyle/>
          <a:p>
            <a:r>
              <a:rPr lang="en-IN" sz="1400" dirty="0">
                <a:latin typeface="Times New Roman" panose="02020603050405020304" pitchFamily="18" charset="0"/>
                <a:cs typeface="Times New Roman" panose="02020603050405020304" pitchFamily="18" charset="0"/>
              </a:rPr>
              <a:t>SKCET / AI &amp; DS</a:t>
            </a:r>
          </a:p>
        </p:txBody>
      </p:sp>
      <p:sp>
        <p:nvSpPr>
          <p:cNvPr id="7" name="Slide Number Placeholder 6">
            <a:extLst>
              <a:ext uri="{FF2B5EF4-FFF2-40B4-BE49-F238E27FC236}">
                <a16:creationId xmlns:a16="http://schemas.microsoft.com/office/drawing/2014/main" id="{F0622242-D959-23AE-DA3A-BB32A4748417}"/>
              </a:ext>
            </a:extLst>
          </p:cNvPr>
          <p:cNvSpPr>
            <a:spLocks noGrp="1"/>
          </p:cNvSpPr>
          <p:nvPr>
            <p:ph type="sldNum" sz="quarter" idx="12"/>
          </p:nvPr>
        </p:nvSpPr>
        <p:spPr/>
        <p:txBody>
          <a:bodyPr/>
          <a:lstStyle/>
          <a:p>
            <a:fld id="{424570A0-3C5D-48CC-A9DB-EDDFA94DE3F8}" type="slidenum">
              <a:rPr lang="en-IN" sz="1400" smtClean="0">
                <a:latin typeface="Times New Roman" panose="02020603050405020304" pitchFamily="18" charset="0"/>
                <a:cs typeface="Times New Roman" panose="02020603050405020304" pitchFamily="18" charset="0"/>
              </a:rPr>
              <a:t>18</a:t>
            </a:fld>
            <a:endParaRPr lang="en-IN" sz="14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3B014C3D-9511-2747-9F71-5BE13B695522}"/>
              </a:ext>
            </a:extLst>
          </p:cNvPr>
          <p:cNvPicPr>
            <a:picLocks noChangeAspect="1"/>
          </p:cNvPicPr>
          <p:nvPr/>
        </p:nvPicPr>
        <p:blipFill rotWithShape="1">
          <a:blip r:embed="rId2"/>
          <a:srcRect l="6381" t="22671" r="32994"/>
          <a:stretch/>
        </p:blipFill>
        <p:spPr bwMode="auto">
          <a:xfrm>
            <a:off x="379627" y="1446198"/>
            <a:ext cx="5621880" cy="3965604"/>
          </a:xfrm>
          <a:prstGeom prst="rect">
            <a:avLst/>
          </a:prstGeom>
          <a:ln>
            <a:noFill/>
          </a:ln>
          <a:extLst>
            <a:ext uri="{53640926-AAD7-44D8-BBD7-CCE9431645EC}">
              <a14:shadowObscured xmlns:a14="http://schemas.microsoft.com/office/drawing/2010/main"/>
            </a:ext>
          </a:extLst>
        </p:spPr>
      </p:pic>
      <p:pic>
        <p:nvPicPr>
          <p:cNvPr id="10" name="Picture 9">
            <a:extLst>
              <a:ext uri="{FF2B5EF4-FFF2-40B4-BE49-F238E27FC236}">
                <a16:creationId xmlns:a16="http://schemas.microsoft.com/office/drawing/2014/main" id="{37EEE2CA-5DA4-19B2-8A79-F7FF48178927}"/>
              </a:ext>
            </a:extLst>
          </p:cNvPr>
          <p:cNvPicPr>
            <a:picLocks noChangeAspect="1"/>
          </p:cNvPicPr>
          <p:nvPr/>
        </p:nvPicPr>
        <p:blipFill rotWithShape="1">
          <a:blip r:embed="rId3"/>
          <a:srcRect l="6912" t="22383" r="31665" b="-1"/>
          <a:stretch/>
        </p:blipFill>
        <p:spPr bwMode="auto">
          <a:xfrm>
            <a:off x="6096000" y="1528502"/>
            <a:ext cx="5637517" cy="38833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8474818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A9F617B5-9354-3AB8-38CF-76556B39B192}"/>
              </a:ext>
            </a:extLst>
          </p:cNvPr>
          <p:cNvSpPr>
            <a:spLocks noGrp="1"/>
          </p:cNvSpPr>
          <p:nvPr>
            <p:ph type="dt" sz="half" idx="10"/>
          </p:nvPr>
        </p:nvSpPr>
        <p:spPr/>
        <p:txBody>
          <a:bodyPr/>
          <a:lstStyle/>
          <a:p>
            <a:fld id="{E0C8D39A-4115-48AA-9BFA-9653CA05BD75}" type="datetime1">
              <a:rPr lang="en-IN" smtClean="0"/>
              <a:t>28-04-2023</a:t>
            </a:fld>
            <a:endParaRPr lang="en-IN"/>
          </a:p>
        </p:txBody>
      </p:sp>
      <p:sp>
        <p:nvSpPr>
          <p:cNvPr id="4" name="Footer Placeholder 3">
            <a:extLst>
              <a:ext uri="{FF2B5EF4-FFF2-40B4-BE49-F238E27FC236}">
                <a16:creationId xmlns:a16="http://schemas.microsoft.com/office/drawing/2014/main" id="{40BE787A-182D-C96D-A44A-26CD397FDEC4}"/>
              </a:ext>
            </a:extLst>
          </p:cNvPr>
          <p:cNvSpPr>
            <a:spLocks noGrp="1"/>
          </p:cNvSpPr>
          <p:nvPr>
            <p:ph type="ftr" sz="quarter" idx="11"/>
          </p:nvPr>
        </p:nvSpPr>
        <p:spPr/>
        <p:txBody>
          <a:bodyPr/>
          <a:lstStyle/>
          <a:p>
            <a:r>
              <a:rPr lang="en-IN"/>
              <a:t>SKCET / AI &amp; DS</a:t>
            </a:r>
          </a:p>
        </p:txBody>
      </p:sp>
      <p:sp>
        <p:nvSpPr>
          <p:cNvPr id="5" name="Slide Number Placeholder 4">
            <a:extLst>
              <a:ext uri="{FF2B5EF4-FFF2-40B4-BE49-F238E27FC236}">
                <a16:creationId xmlns:a16="http://schemas.microsoft.com/office/drawing/2014/main" id="{CCE27954-8280-FB15-89DE-041A1E30CE49}"/>
              </a:ext>
            </a:extLst>
          </p:cNvPr>
          <p:cNvSpPr>
            <a:spLocks noGrp="1"/>
          </p:cNvSpPr>
          <p:nvPr>
            <p:ph type="sldNum" sz="quarter" idx="12"/>
          </p:nvPr>
        </p:nvSpPr>
        <p:spPr/>
        <p:txBody>
          <a:bodyPr/>
          <a:lstStyle/>
          <a:p>
            <a:fld id="{424570A0-3C5D-48CC-A9DB-EDDFA94DE3F8}" type="slidenum">
              <a:rPr lang="en-IN" smtClean="0"/>
              <a:t>19</a:t>
            </a:fld>
            <a:endParaRPr lang="en-IN"/>
          </a:p>
        </p:txBody>
      </p:sp>
      <p:pic>
        <p:nvPicPr>
          <p:cNvPr id="8" name="Picture 7">
            <a:extLst>
              <a:ext uri="{FF2B5EF4-FFF2-40B4-BE49-F238E27FC236}">
                <a16:creationId xmlns:a16="http://schemas.microsoft.com/office/drawing/2014/main" id="{60DA7DEA-48A3-584F-2389-27DCD86436CB}"/>
              </a:ext>
            </a:extLst>
          </p:cNvPr>
          <p:cNvPicPr>
            <a:picLocks noChangeAspect="1"/>
          </p:cNvPicPr>
          <p:nvPr/>
        </p:nvPicPr>
        <p:blipFill rotWithShape="1">
          <a:blip r:embed="rId2"/>
          <a:srcRect l="6781" t="21949" r="31664"/>
          <a:stretch/>
        </p:blipFill>
        <p:spPr bwMode="auto">
          <a:xfrm>
            <a:off x="3215999" y="1287069"/>
            <a:ext cx="5760000" cy="3969230"/>
          </a:xfrm>
          <a:prstGeom prst="rect">
            <a:avLst/>
          </a:prstGeom>
          <a:ln>
            <a:noFill/>
          </a:ln>
          <a:extLst>
            <a:ext uri="{53640926-AAD7-44D8-BBD7-CCE9431645EC}">
              <a14:shadowObscured xmlns:a14="http://schemas.microsoft.com/office/drawing/2010/main"/>
            </a:ext>
          </a:extLst>
        </p:spPr>
      </p:pic>
      <p:sp>
        <p:nvSpPr>
          <p:cNvPr id="10" name="TextBox 9">
            <a:extLst>
              <a:ext uri="{FF2B5EF4-FFF2-40B4-BE49-F238E27FC236}">
                <a16:creationId xmlns:a16="http://schemas.microsoft.com/office/drawing/2014/main" id="{AB9FE870-C688-9108-026D-B48A53E61BC9}"/>
              </a:ext>
            </a:extLst>
          </p:cNvPr>
          <p:cNvSpPr txBox="1"/>
          <p:nvPr/>
        </p:nvSpPr>
        <p:spPr>
          <a:xfrm>
            <a:off x="4858809" y="5492273"/>
            <a:ext cx="2776564" cy="461665"/>
          </a:xfrm>
          <a:prstGeom prst="rect">
            <a:avLst/>
          </a:prstGeom>
          <a:noFill/>
        </p:spPr>
        <p:txBody>
          <a:bodyPr wrap="square">
            <a:spAutoFit/>
          </a:bodyPr>
          <a:lstStyle/>
          <a:p>
            <a:r>
              <a:rPr lang="en-IN" sz="2400" b="1" dirty="0">
                <a:effectLst/>
                <a:latin typeface="Times New Roman" panose="02020603050405020304" pitchFamily="18" charset="0"/>
                <a:ea typeface="Calibri" panose="020F0502020204030204" pitchFamily="34" charset="0"/>
                <a:cs typeface="Times New Roman" panose="02020603050405020304" pitchFamily="18" charset="0"/>
              </a:rPr>
              <a:t>BI-LSTM MODEL</a:t>
            </a:r>
            <a:endParaRPr lang="en-IN" sz="24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048958FC-4E19-2C7F-8A9D-5DB31AF0F579}"/>
              </a:ext>
            </a:extLst>
          </p:cNvPr>
          <p:cNvSpPr txBox="1"/>
          <p:nvPr/>
        </p:nvSpPr>
        <p:spPr>
          <a:xfrm>
            <a:off x="4619613" y="311319"/>
            <a:ext cx="2952771"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LOSS RESULTS</a:t>
            </a:r>
          </a:p>
        </p:txBody>
      </p:sp>
    </p:spTree>
    <p:extLst>
      <p:ext uri="{BB962C8B-B14F-4D97-AF65-F5344CB8AC3E}">
        <p14:creationId xmlns:p14="http://schemas.microsoft.com/office/powerpoint/2010/main" val="23158444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7B82B19-F471-4EC9-1D26-75A1FD96F3C7}"/>
              </a:ext>
            </a:extLst>
          </p:cNvPr>
          <p:cNvSpPr>
            <a:spLocks noGrp="1"/>
          </p:cNvSpPr>
          <p:nvPr>
            <p:ph type="dt" sz="half" idx="10"/>
          </p:nvPr>
        </p:nvSpPr>
        <p:spPr/>
        <p:txBody>
          <a:bodyPr/>
          <a:lstStyle/>
          <a:p>
            <a:fld id="{8123B95F-8C38-4D93-9E8B-9455F5021D25}" type="datetime1">
              <a:rPr lang="en-IN" sz="1400" smtClean="0">
                <a:latin typeface="Times New Roman" panose="02020603050405020304" pitchFamily="18" charset="0"/>
                <a:cs typeface="Times New Roman" panose="02020603050405020304" pitchFamily="18" charset="0"/>
              </a:rPr>
              <a:t>28-04-2023</a:t>
            </a:fld>
            <a:endParaRPr lang="en-IN"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5A7D53E0-25C6-C38B-D53A-D30312039CB3}"/>
              </a:ext>
            </a:extLst>
          </p:cNvPr>
          <p:cNvSpPr>
            <a:spLocks noGrp="1"/>
          </p:cNvSpPr>
          <p:nvPr>
            <p:ph type="ftr" sz="quarter" idx="11"/>
          </p:nvPr>
        </p:nvSpPr>
        <p:spPr/>
        <p:txBody>
          <a:bodyPr/>
          <a:lstStyle/>
          <a:p>
            <a:r>
              <a:rPr lang="en-IN" sz="1400" dirty="0">
                <a:latin typeface="Times New Roman" panose="02020603050405020304" pitchFamily="18" charset="0"/>
                <a:cs typeface="Times New Roman" panose="02020603050405020304" pitchFamily="18" charset="0"/>
              </a:rPr>
              <a:t>SKCET / AI &amp; DS</a:t>
            </a:r>
          </a:p>
        </p:txBody>
      </p:sp>
      <p:sp>
        <p:nvSpPr>
          <p:cNvPr id="6" name="Slide Number Placeholder 5">
            <a:extLst>
              <a:ext uri="{FF2B5EF4-FFF2-40B4-BE49-F238E27FC236}">
                <a16:creationId xmlns:a16="http://schemas.microsoft.com/office/drawing/2014/main" id="{F50AECC2-7770-F740-2DE9-F304BFA97273}"/>
              </a:ext>
            </a:extLst>
          </p:cNvPr>
          <p:cNvSpPr>
            <a:spLocks noGrp="1"/>
          </p:cNvSpPr>
          <p:nvPr>
            <p:ph type="sldNum" sz="quarter" idx="12"/>
          </p:nvPr>
        </p:nvSpPr>
        <p:spPr/>
        <p:txBody>
          <a:bodyPr/>
          <a:lstStyle/>
          <a:p>
            <a:fld id="{424570A0-3C5D-48CC-A9DB-EDDFA94DE3F8}" type="slidenum">
              <a:rPr lang="en-IN" sz="1400" smtClean="0">
                <a:latin typeface="Times New Roman" panose="02020603050405020304" pitchFamily="18" charset="0"/>
                <a:cs typeface="Times New Roman" panose="02020603050405020304" pitchFamily="18" charset="0"/>
              </a:rPr>
              <a:t>20</a:t>
            </a:fld>
            <a:endParaRPr lang="en-IN" sz="1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5AEE414F-C933-5D77-38B2-CEE26450FE73}"/>
              </a:ext>
            </a:extLst>
          </p:cNvPr>
          <p:cNvSpPr txBox="1"/>
          <p:nvPr/>
        </p:nvSpPr>
        <p:spPr>
          <a:xfrm>
            <a:off x="838200" y="645248"/>
            <a:ext cx="6256962"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MODEL METRICS</a:t>
            </a:r>
          </a:p>
        </p:txBody>
      </p:sp>
      <p:graphicFrame>
        <p:nvGraphicFramePr>
          <p:cNvPr id="2" name="Table 1">
            <a:extLst>
              <a:ext uri="{FF2B5EF4-FFF2-40B4-BE49-F238E27FC236}">
                <a16:creationId xmlns:a16="http://schemas.microsoft.com/office/drawing/2014/main" id="{09FF3890-75A7-FD3F-6CF6-1D0FB824521D}"/>
              </a:ext>
            </a:extLst>
          </p:cNvPr>
          <p:cNvGraphicFramePr>
            <a:graphicFrameLocks noGrp="1"/>
          </p:cNvGraphicFramePr>
          <p:nvPr>
            <p:extLst>
              <p:ext uri="{D42A27DB-BD31-4B8C-83A1-F6EECF244321}">
                <p14:modId xmlns:p14="http://schemas.microsoft.com/office/powerpoint/2010/main" val="2729354460"/>
              </p:ext>
            </p:extLst>
          </p:nvPr>
        </p:nvGraphicFramePr>
        <p:xfrm>
          <a:off x="2574779" y="1974365"/>
          <a:ext cx="6500396" cy="2794279"/>
        </p:xfrm>
        <a:graphic>
          <a:graphicData uri="http://schemas.openxmlformats.org/drawingml/2006/table">
            <a:tbl>
              <a:tblPr firstRow="1" firstCol="1" bandRow="1">
                <a:tableStyleId>{2D5ABB26-0587-4C30-8999-92F81FD0307C}</a:tableStyleId>
              </a:tblPr>
              <a:tblGrid>
                <a:gridCol w="1999850">
                  <a:extLst>
                    <a:ext uri="{9D8B030D-6E8A-4147-A177-3AD203B41FA5}">
                      <a16:colId xmlns:a16="http://schemas.microsoft.com/office/drawing/2014/main" val="2382453897"/>
                    </a:ext>
                  </a:extLst>
                </a:gridCol>
                <a:gridCol w="2902086">
                  <a:extLst>
                    <a:ext uri="{9D8B030D-6E8A-4147-A177-3AD203B41FA5}">
                      <a16:colId xmlns:a16="http://schemas.microsoft.com/office/drawing/2014/main" val="2297173422"/>
                    </a:ext>
                  </a:extLst>
                </a:gridCol>
                <a:gridCol w="1598460">
                  <a:extLst>
                    <a:ext uri="{9D8B030D-6E8A-4147-A177-3AD203B41FA5}">
                      <a16:colId xmlns:a16="http://schemas.microsoft.com/office/drawing/2014/main" val="3196001395"/>
                    </a:ext>
                  </a:extLst>
                </a:gridCol>
              </a:tblGrid>
              <a:tr h="624583">
                <a:tc>
                  <a:txBody>
                    <a:bodyPr/>
                    <a:lstStyle/>
                    <a:p>
                      <a:pPr algn="l">
                        <a:lnSpc>
                          <a:spcPct val="200000"/>
                        </a:lnSpc>
                        <a:spcBef>
                          <a:spcPts val="1200"/>
                        </a:spcBef>
                        <a:spcAft>
                          <a:spcPts val="800"/>
                        </a:spcAft>
                      </a:pPr>
                      <a:r>
                        <a:rPr lang="en-IN" sz="2400" b="1" kern="0" dirty="0">
                          <a:effectLst/>
                          <a:latin typeface="Times New Roman" panose="02020603050405020304" pitchFamily="18" charset="0"/>
                          <a:cs typeface="Times New Roman" panose="02020603050405020304" pitchFamily="18" charset="0"/>
                        </a:rPr>
                        <a:t>MODEL</a:t>
                      </a:r>
                      <a:endParaRPr lang="en-IN" sz="20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200000"/>
                        </a:lnSpc>
                        <a:spcBef>
                          <a:spcPts val="1200"/>
                        </a:spcBef>
                        <a:spcAft>
                          <a:spcPts val="800"/>
                        </a:spcAft>
                      </a:pPr>
                      <a:r>
                        <a:rPr lang="en-IN" sz="2400" b="1" kern="0" dirty="0">
                          <a:effectLst/>
                          <a:latin typeface="Times New Roman" panose="02020603050405020304" pitchFamily="18" charset="0"/>
                          <a:cs typeface="Times New Roman" panose="02020603050405020304" pitchFamily="18" charset="0"/>
                        </a:rPr>
                        <a:t>EPOCHS</a:t>
                      </a:r>
                      <a:endParaRPr lang="en-IN" sz="20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lnSpc>
                          <a:spcPct val="200000"/>
                        </a:lnSpc>
                        <a:spcBef>
                          <a:spcPts val="1200"/>
                        </a:spcBef>
                        <a:spcAft>
                          <a:spcPts val="800"/>
                        </a:spcAft>
                      </a:pPr>
                      <a:r>
                        <a:rPr lang="en-IN" sz="2400" b="1" kern="0" dirty="0">
                          <a:effectLst/>
                          <a:latin typeface="Times New Roman" panose="02020603050405020304" pitchFamily="18" charset="0"/>
                          <a:cs typeface="Times New Roman" panose="02020603050405020304" pitchFamily="18" charset="0"/>
                        </a:rPr>
                        <a:t>LOSS %</a:t>
                      </a:r>
                      <a:endParaRPr lang="en-IN" sz="20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0630357"/>
                  </a:ext>
                </a:extLst>
              </a:tr>
              <a:tr h="670454">
                <a:tc>
                  <a:txBody>
                    <a:bodyPr/>
                    <a:lstStyle/>
                    <a:p>
                      <a:pPr algn="l">
                        <a:lnSpc>
                          <a:spcPct val="200000"/>
                        </a:lnSpc>
                        <a:spcBef>
                          <a:spcPts val="1200"/>
                        </a:spcBef>
                        <a:spcAft>
                          <a:spcPts val="800"/>
                        </a:spcAft>
                      </a:pPr>
                      <a:r>
                        <a:rPr lang="en-IN" sz="2400" b="1" kern="0" dirty="0">
                          <a:effectLst/>
                          <a:latin typeface="Times New Roman" panose="02020603050405020304" pitchFamily="18" charset="0"/>
                          <a:cs typeface="Times New Roman" panose="02020603050405020304" pitchFamily="18" charset="0"/>
                        </a:rPr>
                        <a:t>RNN</a:t>
                      </a:r>
                      <a:endParaRPr lang="en-IN" sz="20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200000"/>
                        </a:lnSpc>
                        <a:spcBef>
                          <a:spcPts val="1200"/>
                        </a:spcBef>
                        <a:spcAft>
                          <a:spcPts val="800"/>
                        </a:spcAft>
                      </a:pPr>
                      <a:r>
                        <a:rPr lang="en-IN" sz="2400" kern="0" dirty="0">
                          <a:effectLst/>
                          <a:latin typeface="Times New Roman" panose="02020603050405020304" pitchFamily="18" charset="0"/>
                          <a:cs typeface="Times New Roman" panose="02020603050405020304" pitchFamily="18" charset="0"/>
                        </a:rPr>
                        <a:t>50</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lnSpc>
                          <a:spcPct val="200000"/>
                        </a:lnSpc>
                        <a:spcBef>
                          <a:spcPts val="1200"/>
                        </a:spcBef>
                        <a:spcAft>
                          <a:spcPts val="800"/>
                        </a:spcAft>
                      </a:pPr>
                      <a:r>
                        <a:rPr lang="en-IN" sz="2400" kern="0">
                          <a:effectLst/>
                          <a:latin typeface="Times New Roman" panose="02020603050405020304" pitchFamily="18" charset="0"/>
                          <a:cs typeface="Times New Roman" panose="02020603050405020304" pitchFamily="18" charset="0"/>
                        </a:rPr>
                        <a:t>0.285</a:t>
                      </a:r>
                      <a:endParaRPr lang="en-IN" sz="2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4246760"/>
                  </a:ext>
                </a:extLst>
              </a:tr>
              <a:tr h="714637">
                <a:tc>
                  <a:txBody>
                    <a:bodyPr/>
                    <a:lstStyle/>
                    <a:p>
                      <a:pPr algn="l">
                        <a:lnSpc>
                          <a:spcPct val="200000"/>
                        </a:lnSpc>
                        <a:spcBef>
                          <a:spcPts val="1200"/>
                        </a:spcBef>
                        <a:spcAft>
                          <a:spcPts val="800"/>
                        </a:spcAft>
                      </a:pPr>
                      <a:r>
                        <a:rPr lang="en-IN" sz="2400" b="1" kern="0" dirty="0">
                          <a:effectLst/>
                          <a:latin typeface="Times New Roman" panose="02020603050405020304" pitchFamily="18" charset="0"/>
                          <a:cs typeface="Times New Roman" panose="02020603050405020304" pitchFamily="18" charset="0"/>
                        </a:rPr>
                        <a:t>LSTM</a:t>
                      </a:r>
                      <a:endParaRPr lang="en-IN" sz="20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200000"/>
                        </a:lnSpc>
                        <a:spcBef>
                          <a:spcPts val="1200"/>
                        </a:spcBef>
                        <a:spcAft>
                          <a:spcPts val="800"/>
                        </a:spcAft>
                      </a:pPr>
                      <a:r>
                        <a:rPr lang="en-IN" sz="2400" kern="0" dirty="0">
                          <a:effectLst/>
                          <a:latin typeface="Times New Roman" panose="02020603050405020304" pitchFamily="18" charset="0"/>
                          <a:cs typeface="Times New Roman" panose="02020603050405020304" pitchFamily="18" charset="0"/>
                        </a:rPr>
                        <a:t>50</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lnSpc>
                          <a:spcPct val="200000"/>
                        </a:lnSpc>
                        <a:spcBef>
                          <a:spcPts val="1200"/>
                        </a:spcBef>
                        <a:spcAft>
                          <a:spcPts val="800"/>
                        </a:spcAft>
                      </a:pPr>
                      <a:r>
                        <a:rPr lang="en-IN" sz="2400" kern="0">
                          <a:effectLst/>
                          <a:latin typeface="Times New Roman" panose="02020603050405020304" pitchFamily="18" charset="0"/>
                          <a:cs typeface="Times New Roman" panose="02020603050405020304" pitchFamily="18" charset="0"/>
                        </a:rPr>
                        <a:t>0.063</a:t>
                      </a:r>
                      <a:endParaRPr lang="en-IN" sz="2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328051"/>
                  </a:ext>
                </a:extLst>
              </a:tr>
              <a:tr h="784605">
                <a:tc>
                  <a:txBody>
                    <a:bodyPr/>
                    <a:lstStyle/>
                    <a:p>
                      <a:pPr algn="l">
                        <a:lnSpc>
                          <a:spcPct val="200000"/>
                        </a:lnSpc>
                        <a:spcBef>
                          <a:spcPts val="1200"/>
                        </a:spcBef>
                        <a:spcAft>
                          <a:spcPts val="800"/>
                        </a:spcAft>
                      </a:pPr>
                      <a:r>
                        <a:rPr lang="en-IN" sz="2400" b="1" kern="0" dirty="0">
                          <a:effectLst/>
                          <a:latin typeface="Times New Roman" panose="02020603050405020304" pitchFamily="18" charset="0"/>
                          <a:cs typeface="Times New Roman" panose="02020603050405020304" pitchFamily="18" charset="0"/>
                        </a:rPr>
                        <a:t>BI-LSTM</a:t>
                      </a:r>
                      <a:endParaRPr lang="en-IN" sz="20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200000"/>
                        </a:lnSpc>
                        <a:spcBef>
                          <a:spcPts val="1200"/>
                        </a:spcBef>
                        <a:spcAft>
                          <a:spcPts val="800"/>
                        </a:spcAft>
                      </a:pPr>
                      <a:r>
                        <a:rPr lang="en-IN" sz="2400" kern="0" dirty="0">
                          <a:effectLst/>
                          <a:latin typeface="Times New Roman" panose="02020603050405020304" pitchFamily="18" charset="0"/>
                          <a:cs typeface="Times New Roman" panose="02020603050405020304" pitchFamily="18" charset="0"/>
                        </a:rPr>
                        <a:t>50</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lnSpc>
                          <a:spcPct val="200000"/>
                        </a:lnSpc>
                        <a:spcBef>
                          <a:spcPts val="1200"/>
                        </a:spcBef>
                        <a:spcAft>
                          <a:spcPts val="800"/>
                        </a:spcAft>
                      </a:pPr>
                      <a:r>
                        <a:rPr lang="en-IN" sz="2400" kern="0" dirty="0">
                          <a:effectLst/>
                          <a:latin typeface="Times New Roman" panose="02020603050405020304" pitchFamily="18" charset="0"/>
                          <a:cs typeface="Times New Roman" panose="02020603050405020304" pitchFamily="18" charset="0"/>
                        </a:rPr>
                        <a:t>0.088</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8823656"/>
                  </a:ext>
                </a:extLst>
              </a:tr>
            </a:tbl>
          </a:graphicData>
        </a:graphic>
      </p:graphicFrame>
    </p:spTree>
    <p:extLst>
      <p:ext uri="{BB962C8B-B14F-4D97-AF65-F5344CB8AC3E}">
        <p14:creationId xmlns:p14="http://schemas.microsoft.com/office/powerpoint/2010/main" val="37463657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91CA42E-6FDD-599A-7A7B-3ECC31E1EF84}"/>
              </a:ext>
            </a:extLst>
          </p:cNvPr>
          <p:cNvSpPr>
            <a:spLocks noGrp="1"/>
          </p:cNvSpPr>
          <p:nvPr>
            <p:ph type="dt" sz="half" idx="10"/>
          </p:nvPr>
        </p:nvSpPr>
        <p:spPr/>
        <p:txBody>
          <a:bodyPr/>
          <a:lstStyle/>
          <a:p>
            <a:fld id="{CF2492DE-7066-412D-9A8F-29EB907488A1}" type="datetime1">
              <a:rPr lang="en-IN" sz="1400" smtClean="0">
                <a:latin typeface="Times New Roman" panose="02020603050405020304" pitchFamily="18" charset="0"/>
                <a:cs typeface="Times New Roman" panose="02020603050405020304" pitchFamily="18" charset="0"/>
              </a:rPr>
              <a:t>28-04-2023</a:t>
            </a:fld>
            <a:endParaRPr lang="en-IN"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8D54AD59-F0BF-2D00-C550-3DED00BDF2A9}"/>
              </a:ext>
            </a:extLst>
          </p:cNvPr>
          <p:cNvSpPr>
            <a:spLocks noGrp="1"/>
          </p:cNvSpPr>
          <p:nvPr>
            <p:ph type="ftr" sz="quarter" idx="11"/>
          </p:nvPr>
        </p:nvSpPr>
        <p:spPr/>
        <p:txBody>
          <a:bodyPr/>
          <a:lstStyle/>
          <a:p>
            <a:r>
              <a:rPr lang="en-IN" sz="1400" dirty="0">
                <a:latin typeface="Times New Roman" panose="02020603050405020304" pitchFamily="18" charset="0"/>
                <a:cs typeface="Times New Roman" panose="02020603050405020304" pitchFamily="18" charset="0"/>
              </a:rPr>
              <a:t>SKCET / AI &amp; DS</a:t>
            </a:r>
          </a:p>
        </p:txBody>
      </p:sp>
      <p:sp>
        <p:nvSpPr>
          <p:cNvPr id="6" name="Slide Number Placeholder 5">
            <a:extLst>
              <a:ext uri="{FF2B5EF4-FFF2-40B4-BE49-F238E27FC236}">
                <a16:creationId xmlns:a16="http://schemas.microsoft.com/office/drawing/2014/main" id="{DC3AE729-421D-1AA7-4C43-FCAF4C67F2E4}"/>
              </a:ext>
            </a:extLst>
          </p:cNvPr>
          <p:cNvSpPr>
            <a:spLocks noGrp="1"/>
          </p:cNvSpPr>
          <p:nvPr>
            <p:ph type="sldNum" sz="quarter" idx="12"/>
          </p:nvPr>
        </p:nvSpPr>
        <p:spPr/>
        <p:txBody>
          <a:bodyPr/>
          <a:lstStyle/>
          <a:p>
            <a:fld id="{424570A0-3C5D-48CC-A9DB-EDDFA94DE3F8}" type="slidenum">
              <a:rPr lang="en-IN" sz="1400" smtClean="0">
                <a:latin typeface="Times New Roman" panose="02020603050405020304" pitchFamily="18" charset="0"/>
                <a:cs typeface="Times New Roman" panose="02020603050405020304" pitchFamily="18" charset="0"/>
              </a:rPr>
              <a:t>21</a:t>
            </a:fld>
            <a:endParaRPr lang="en-IN" sz="1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5CB57DD7-58D7-2473-4FAF-F985269D4A61}"/>
              </a:ext>
            </a:extLst>
          </p:cNvPr>
          <p:cNvSpPr txBox="1"/>
          <p:nvPr/>
        </p:nvSpPr>
        <p:spPr>
          <a:xfrm>
            <a:off x="838200" y="441579"/>
            <a:ext cx="6256962"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HOME PAGE</a:t>
            </a:r>
          </a:p>
        </p:txBody>
      </p:sp>
      <p:pic>
        <p:nvPicPr>
          <p:cNvPr id="2" name="Picture 1">
            <a:extLst>
              <a:ext uri="{FF2B5EF4-FFF2-40B4-BE49-F238E27FC236}">
                <a16:creationId xmlns:a16="http://schemas.microsoft.com/office/drawing/2014/main" id="{717FEA5B-CA10-344E-3125-98EF5D35864C}"/>
              </a:ext>
            </a:extLst>
          </p:cNvPr>
          <p:cNvPicPr>
            <a:picLocks noChangeAspect="1"/>
          </p:cNvPicPr>
          <p:nvPr/>
        </p:nvPicPr>
        <p:blipFill rotWithShape="1">
          <a:blip r:embed="rId2"/>
          <a:srcRect l="-3526" r="-6671"/>
          <a:stretch/>
        </p:blipFill>
        <p:spPr bwMode="auto">
          <a:xfrm>
            <a:off x="2190446" y="1298908"/>
            <a:ext cx="7811107" cy="4723333"/>
          </a:xfrm>
          <a:prstGeom prst="rect">
            <a:avLst/>
          </a:prstGeom>
          <a:ln>
            <a:solidFill>
              <a:schemeClr val="tx1"/>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6616792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F05D64-DAF5-FC83-D022-23723A90FF15}"/>
              </a:ext>
            </a:extLst>
          </p:cNvPr>
          <p:cNvSpPr>
            <a:spLocks noGrp="1"/>
          </p:cNvSpPr>
          <p:nvPr>
            <p:ph type="dt" sz="half" idx="10"/>
          </p:nvPr>
        </p:nvSpPr>
        <p:spPr/>
        <p:txBody>
          <a:bodyPr/>
          <a:lstStyle/>
          <a:p>
            <a:fld id="{0FD96FC6-DE19-4309-814D-01EC3A5B81C4}" type="datetime1">
              <a:rPr lang="en-IN" sz="1400" smtClean="0">
                <a:latin typeface="Times New Roman" panose="02020603050405020304" pitchFamily="18" charset="0"/>
                <a:cs typeface="Times New Roman" panose="02020603050405020304" pitchFamily="18" charset="0"/>
              </a:rPr>
              <a:t>28-04-2023</a:t>
            </a:fld>
            <a:endParaRPr lang="en-IN"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953E31E3-E401-2794-47C1-E8D5A08131E7}"/>
              </a:ext>
            </a:extLst>
          </p:cNvPr>
          <p:cNvSpPr>
            <a:spLocks noGrp="1"/>
          </p:cNvSpPr>
          <p:nvPr>
            <p:ph type="ftr" sz="quarter" idx="11"/>
          </p:nvPr>
        </p:nvSpPr>
        <p:spPr/>
        <p:txBody>
          <a:bodyPr/>
          <a:lstStyle/>
          <a:p>
            <a:r>
              <a:rPr lang="en-IN" sz="1400" dirty="0">
                <a:latin typeface="Times New Roman" panose="02020603050405020304" pitchFamily="18" charset="0"/>
                <a:cs typeface="Times New Roman" panose="02020603050405020304" pitchFamily="18" charset="0"/>
              </a:rPr>
              <a:t>SKCET / AI &amp; DS</a:t>
            </a:r>
          </a:p>
        </p:txBody>
      </p:sp>
      <p:sp>
        <p:nvSpPr>
          <p:cNvPr id="4" name="Slide Number Placeholder 3">
            <a:extLst>
              <a:ext uri="{FF2B5EF4-FFF2-40B4-BE49-F238E27FC236}">
                <a16:creationId xmlns:a16="http://schemas.microsoft.com/office/drawing/2014/main" id="{A59ECCBC-F391-5665-163E-5D55E4FA094D}"/>
              </a:ext>
            </a:extLst>
          </p:cNvPr>
          <p:cNvSpPr>
            <a:spLocks noGrp="1"/>
          </p:cNvSpPr>
          <p:nvPr>
            <p:ph type="sldNum" sz="quarter" idx="12"/>
          </p:nvPr>
        </p:nvSpPr>
        <p:spPr/>
        <p:txBody>
          <a:bodyPr/>
          <a:lstStyle/>
          <a:p>
            <a:fld id="{424570A0-3C5D-48CC-A9DB-EDDFA94DE3F8}" type="slidenum">
              <a:rPr lang="en-IN" sz="1400" smtClean="0">
                <a:latin typeface="Times New Roman" panose="02020603050405020304" pitchFamily="18" charset="0"/>
                <a:cs typeface="Times New Roman" panose="02020603050405020304" pitchFamily="18" charset="0"/>
              </a:rPr>
              <a:t>22</a:t>
            </a:fld>
            <a:endParaRPr lang="en-IN" sz="1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BD13AAF-0461-766B-ECF8-ACBF72505BF8}"/>
              </a:ext>
            </a:extLst>
          </p:cNvPr>
          <p:cNvSpPr txBox="1"/>
          <p:nvPr/>
        </p:nvSpPr>
        <p:spPr>
          <a:xfrm>
            <a:off x="838200" y="477975"/>
            <a:ext cx="6256962"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PREDICTION PAGE</a:t>
            </a:r>
          </a:p>
        </p:txBody>
      </p:sp>
      <p:pic>
        <p:nvPicPr>
          <p:cNvPr id="6" name="Picture 5">
            <a:extLst>
              <a:ext uri="{FF2B5EF4-FFF2-40B4-BE49-F238E27FC236}">
                <a16:creationId xmlns:a16="http://schemas.microsoft.com/office/drawing/2014/main" id="{39CA28A2-BB5B-D91D-D35E-0F2726DB8B48}"/>
              </a:ext>
            </a:extLst>
          </p:cNvPr>
          <p:cNvPicPr>
            <a:picLocks noChangeAspect="1"/>
          </p:cNvPicPr>
          <p:nvPr/>
        </p:nvPicPr>
        <p:blipFill rotWithShape="1">
          <a:blip r:embed="rId2"/>
          <a:srcRect l="-2955" t="7723" r="13310" b="16122"/>
          <a:stretch/>
        </p:blipFill>
        <p:spPr bwMode="auto">
          <a:xfrm>
            <a:off x="1710156" y="1302772"/>
            <a:ext cx="8771688" cy="4752000"/>
          </a:xfrm>
          <a:prstGeom prst="rect">
            <a:avLst/>
          </a:prstGeom>
          <a:ln>
            <a:solidFill>
              <a:schemeClr val="tx1"/>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9889859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B49BB0-B67E-F54B-BC59-5C9A8C29288F}"/>
              </a:ext>
            </a:extLst>
          </p:cNvPr>
          <p:cNvSpPr>
            <a:spLocks noGrp="1"/>
          </p:cNvSpPr>
          <p:nvPr>
            <p:ph type="dt" sz="half" idx="10"/>
          </p:nvPr>
        </p:nvSpPr>
        <p:spPr/>
        <p:txBody>
          <a:bodyPr/>
          <a:lstStyle/>
          <a:p>
            <a:fld id="{B552F24C-3518-4D01-A507-5BCFE521A5D6}" type="datetime1">
              <a:rPr lang="en-IN" smtClean="0"/>
              <a:t>28-04-2023</a:t>
            </a:fld>
            <a:endParaRPr lang="en-IN"/>
          </a:p>
        </p:txBody>
      </p:sp>
      <p:sp>
        <p:nvSpPr>
          <p:cNvPr id="3" name="Footer Placeholder 2">
            <a:extLst>
              <a:ext uri="{FF2B5EF4-FFF2-40B4-BE49-F238E27FC236}">
                <a16:creationId xmlns:a16="http://schemas.microsoft.com/office/drawing/2014/main" id="{9FB773D3-E939-78B3-D431-4D461295BF2F}"/>
              </a:ext>
            </a:extLst>
          </p:cNvPr>
          <p:cNvSpPr>
            <a:spLocks noGrp="1"/>
          </p:cNvSpPr>
          <p:nvPr>
            <p:ph type="ftr" sz="quarter" idx="11"/>
          </p:nvPr>
        </p:nvSpPr>
        <p:spPr/>
        <p:txBody>
          <a:bodyPr/>
          <a:lstStyle/>
          <a:p>
            <a:r>
              <a:rPr lang="en-IN"/>
              <a:t>SKCET / AI &amp; DS</a:t>
            </a:r>
          </a:p>
        </p:txBody>
      </p:sp>
      <p:sp>
        <p:nvSpPr>
          <p:cNvPr id="4" name="Slide Number Placeholder 3">
            <a:extLst>
              <a:ext uri="{FF2B5EF4-FFF2-40B4-BE49-F238E27FC236}">
                <a16:creationId xmlns:a16="http://schemas.microsoft.com/office/drawing/2014/main" id="{B78C5B61-EB17-6B3C-3194-7DAD5BDCDB23}"/>
              </a:ext>
            </a:extLst>
          </p:cNvPr>
          <p:cNvSpPr>
            <a:spLocks noGrp="1"/>
          </p:cNvSpPr>
          <p:nvPr>
            <p:ph type="sldNum" sz="quarter" idx="12"/>
          </p:nvPr>
        </p:nvSpPr>
        <p:spPr/>
        <p:txBody>
          <a:bodyPr/>
          <a:lstStyle/>
          <a:p>
            <a:fld id="{424570A0-3C5D-48CC-A9DB-EDDFA94DE3F8}" type="slidenum">
              <a:rPr lang="en-IN" smtClean="0"/>
              <a:t>23</a:t>
            </a:fld>
            <a:endParaRPr lang="en-IN"/>
          </a:p>
        </p:txBody>
      </p:sp>
      <p:sp>
        <p:nvSpPr>
          <p:cNvPr id="5" name="TextBox 4">
            <a:extLst>
              <a:ext uri="{FF2B5EF4-FFF2-40B4-BE49-F238E27FC236}">
                <a16:creationId xmlns:a16="http://schemas.microsoft.com/office/drawing/2014/main" id="{A9583B4D-9442-425C-9C3F-65B8055CA562}"/>
              </a:ext>
            </a:extLst>
          </p:cNvPr>
          <p:cNvSpPr txBox="1"/>
          <p:nvPr/>
        </p:nvSpPr>
        <p:spPr>
          <a:xfrm>
            <a:off x="838200" y="500432"/>
            <a:ext cx="6256962"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TEST CASE - 1</a:t>
            </a:r>
          </a:p>
        </p:txBody>
      </p:sp>
      <p:pic>
        <p:nvPicPr>
          <p:cNvPr id="6" name="Picture 5">
            <a:extLst>
              <a:ext uri="{FF2B5EF4-FFF2-40B4-BE49-F238E27FC236}">
                <a16:creationId xmlns:a16="http://schemas.microsoft.com/office/drawing/2014/main" id="{6EF8E9BC-A83A-9E49-ADA1-FAB9E394D241}"/>
              </a:ext>
            </a:extLst>
          </p:cNvPr>
          <p:cNvPicPr>
            <a:picLocks noChangeAspect="1"/>
          </p:cNvPicPr>
          <p:nvPr/>
        </p:nvPicPr>
        <p:blipFill>
          <a:blip r:embed="rId2"/>
          <a:stretch>
            <a:fillRect/>
          </a:stretch>
        </p:blipFill>
        <p:spPr>
          <a:xfrm>
            <a:off x="2548836" y="1320881"/>
            <a:ext cx="7094327" cy="3843468"/>
          </a:xfrm>
          <a:prstGeom prst="rect">
            <a:avLst/>
          </a:prstGeom>
        </p:spPr>
      </p:pic>
      <p:sp>
        <p:nvSpPr>
          <p:cNvPr id="7" name="TextBox 6">
            <a:extLst>
              <a:ext uri="{FF2B5EF4-FFF2-40B4-BE49-F238E27FC236}">
                <a16:creationId xmlns:a16="http://schemas.microsoft.com/office/drawing/2014/main" id="{68913BEC-5B2D-9217-E8C2-B9B6E112CC4C}"/>
              </a:ext>
            </a:extLst>
          </p:cNvPr>
          <p:cNvSpPr txBox="1"/>
          <p:nvPr/>
        </p:nvSpPr>
        <p:spPr>
          <a:xfrm>
            <a:off x="2836011" y="5196259"/>
            <a:ext cx="6519975" cy="461665"/>
          </a:xfrm>
          <a:prstGeom prst="rect">
            <a:avLst/>
          </a:prstGeom>
          <a:noFill/>
        </p:spPr>
        <p:txBody>
          <a:bodyPr wrap="square" rtlCol="0">
            <a:spAutoFit/>
          </a:bodyPr>
          <a:lstStyle/>
          <a:p>
            <a:pPr algn="ctr"/>
            <a:r>
              <a:rPr lang="en-IN" sz="2400" dirty="0">
                <a:latin typeface="Times New Roman" panose="02020603050405020304" pitchFamily="18" charset="0"/>
                <a:cs typeface="Times New Roman" panose="02020603050405020304" pitchFamily="18" charset="0"/>
              </a:rPr>
              <a:t>AAPL Stock Price Forecasting for next 15 days.</a:t>
            </a:r>
          </a:p>
        </p:txBody>
      </p:sp>
    </p:spTree>
    <p:extLst>
      <p:ext uri="{BB962C8B-B14F-4D97-AF65-F5344CB8AC3E}">
        <p14:creationId xmlns:p14="http://schemas.microsoft.com/office/powerpoint/2010/main" val="11368390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B49BB0-B67E-F54B-BC59-5C9A8C29288F}"/>
              </a:ext>
            </a:extLst>
          </p:cNvPr>
          <p:cNvSpPr>
            <a:spLocks noGrp="1"/>
          </p:cNvSpPr>
          <p:nvPr>
            <p:ph type="dt" sz="half" idx="10"/>
          </p:nvPr>
        </p:nvSpPr>
        <p:spPr/>
        <p:txBody>
          <a:bodyPr/>
          <a:lstStyle/>
          <a:p>
            <a:fld id="{B552F24C-3518-4D01-A507-5BCFE521A5D6}" type="datetime1">
              <a:rPr lang="en-IN" smtClean="0"/>
              <a:t>28-04-2023</a:t>
            </a:fld>
            <a:endParaRPr lang="en-IN"/>
          </a:p>
        </p:txBody>
      </p:sp>
      <p:sp>
        <p:nvSpPr>
          <p:cNvPr id="3" name="Footer Placeholder 2">
            <a:extLst>
              <a:ext uri="{FF2B5EF4-FFF2-40B4-BE49-F238E27FC236}">
                <a16:creationId xmlns:a16="http://schemas.microsoft.com/office/drawing/2014/main" id="{9FB773D3-E939-78B3-D431-4D461295BF2F}"/>
              </a:ext>
            </a:extLst>
          </p:cNvPr>
          <p:cNvSpPr>
            <a:spLocks noGrp="1"/>
          </p:cNvSpPr>
          <p:nvPr>
            <p:ph type="ftr" sz="quarter" idx="11"/>
          </p:nvPr>
        </p:nvSpPr>
        <p:spPr/>
        <p:txBody>
          <a:bodyPr/>
          <a:lstStyle/>
          <a:p>
            <a:r>
              <a:rPr lang="en-IN"/>
              <a:t>SKCET / AI &amp; DS</a:t>
            </a:r>
          </a:p>
        </p:txBody>
      </p:sp>
      <p:sp>
        <p:nvSpPr>
          <p:cNvPr id="4" name="Slide Number Placeholder 3">
            <a:extLst>
              <a:ext uri="{FF2B5EF4-FFF2-40B4-BE49-F238E27FC236}">
                <a16:creationId xmlns:a16="http://schemas.microsoft.com/office/drawing/2014/main" id="{B78C5B61-EB17-6B3C-3194-7DAD5BDCDB23}"/>
              </a:ext>
            </a:extLst>
          </p:cNvPr>
          <p:cNvSpPr>
            <a:spLocks noGrp="1"/>
          </p:cNvSpPr>
          <p:nvPr>
            <p:ph type="sldNum" sz="quarter" idx="12"/>
          </p:nvPr>
        </p:nvSpPr>
        <p:spPr/>
        <p:txBody>
          <a:bodyPr/>
          <a:lstStyle/>
          <a:p>
            <a:fld id="{424570A0-3C5D-48CC-A9DB-EDDFA94DE3F8}" type="slidenum">
              <a:rPr lang="en-IN" smtClean="0"/>
              <a:t>24</a:t>
            </a:fld>
            <a:endParaRPr lang="en-IN"/>
          </a:p>
        </p:txBody>
      </p:sp>
      <p:sp>
        <p:nvSpPr>
          <p:cNvPr id="5" name="TextBox 4">
            <a:extLst>
              <a:ext uri="{FF2B5EF4-FFF2-40B4-BE49-F238E27FC236}">
                <a16:creationId xmlns:a16="http://schemas.microsoft.com/office/drawing/2014/main" id="{A9583B4D-9442-425C-9C3F-65B8055CA562}"/>
              </a:ext>
            </a:extLst>
          </p:cNvPr>
          <p:cNvSpPr txBox="1"/>
          <p:nvPr/>
        </p:nvSpPr>
        <p:spPr>
          <a:xfrm>
            <a:off x="838200" y="517432"/>
            <a:ext cx="6256962"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TEST CASE - 2</a:t>
            </a:r>
          </a:p>
        </p:txBody>
      </p:sp>
      <p:sp>
        <p:nvSpPr>
          <p:cNvPr id="7" name="TextBox 6">
            <a:extLst>
              <a:ext uri="{FF2B5EF4-FFF2-40B4-BE49-F238E27FC236}">
                <a16:creationId xmlns:a16="http://schemas.microsoft.com/office/drawing/2014/main" id="{68913BEC-5B2D-9217-E8C2-B9B6E112CC4C}"/>
              </a:ext>
            </a:extLst>
          </p:cNvPr>
          <p:cNvSpPr txBox="1"/>
          <p:nvPr/>
        </p:nvSpPr>
        <p:spPr>
          <a:xfrm>
            <a:off x="2836011" y="5196259"/>
            <a:ext cx="6519975" cy="461665"/>
          </a:xfrm>
          <a:prstGeom prst="rect">
            <a:avLst/>
          </a:prstGeom>
          <a:noFill/>
        </p:spPr>
        <p:txBody>
          <a:bodyPr wrap="square" rtlCol="0">
            <a:spAutoFit/>
          </a:bodyPr>
          <a:lstStyle/>
          <a:p>
            <a:pPr algn="ctr"/>
            <a:r>
              <a:rPr lang="en-IN" sz="2400" dirty="0">
                <a:latin typeface="Times New Roman" panose="02020603050405020304" pitchFamily="18" charset="0"/>
                <a:cs typeface="Times New Roman" panose="02020603050405020304" pitchFamily="18" charset="0"/>
              </a:rPr>
              <a:t>GOOGL Stock Price Forecasting for next 20 days.</a:t>
            </a:r>
          </a:p>
        </p:txBody>
      </p:sp>
      <p:pic>
        <p:nvPicPr>
          <p:cNvPr id="8" name="Picture 7">
            <a:extLst>
              <a:ext uri="{FF2B5EF4-FFF2-40B4-BE49-F238E27FC236}">
                <a16:creationId xmlns:a16="http://schemas.microsoft.com/office/drawing/2014/main" id="{B0008980-8F7F-41B6-3373-3CB002300AA9}"/>
              </a:ext>
            </a:extLst>
          </p:cNvPr>
          <p:cNvPicPr>
            <a:picLocks noChangeAspect="1"/>
          </p:cNvPicPr>
          <p:nvPr/>
        </p:nvPicPr>
        <p:blipFill>
          <a:blip r:embed="rId2"/>
          <a:stretch>
            <a:fillRect/>
          </a:stretch>
        </p:blipFill>
        <p:spPr>
          <a:xfrm>
            <a:off x="2495998" y="1236087"/>
            <a:ext cx="7200000" cy="3892553"/>
          </a:xfrm>
          <a:prstGeom prst="rect">
            <a:avLst/>
          </a:prstGeom>
        </p:spPr>
      </p:pic>
    </p:spTree>
    <p:extLst>
      <p:ext uri="{BB962C8B-B14F-4D97-AF65-F5344CB8AC3E}">
        <p14:creationId xmlns:p14="http://schemas.microsoft.com/office/powerpoint/2010/main" val="16065573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oogle Shape;164;p27">
            <a:extLst>
              <a:ext uri="{FF2B5EF4-FFF2-40B4-BE49-F238E27FC236}">
                <a16:creationId xmlns:a16="http://schemas.microsoft.com/office/drawing/2014/main" id="{67CAA5ED-E48C-D95A-4DA1-E28DCF6F344C}"/>
              </a:ext>
            </a:extLst>
          </p:cNvPr>
          <p:cNvSpPr txBox="1">
            <a:spLocks/>
          </p:cNvSpPr>
          <p:nvPr/>
        </p:nvSpPr>
        <p:spPr>
          <a:xfrm flipH="1">
            <a:off x="626268" y="930171"/>
            <a:ext cx="11221603" cy="5187055"/>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7000"/>
              </a:lnSpc>
              <a:spcAft>
                <a:spcPts val="800"/>
              </a:spcAft>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[1] Novel Optimization Approach For Stock Price Forecasting Using Multi-Layered Sequential LSTM. Applied Soft Computing 134 (2023) 109830</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[2] Multi-scale local cues and hierarchical attention-based LSTM for stock price trend prediction. Neurocomputing 505 (2022) 92–100</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[3] Real-time forecasting of time series in financial markets using sequentially trained dual-LSTMs. Expert Systems With Applications 223 (2023) 119879</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[4] Forecasting Turning Points In Stock Price By Applying A Novel Hybrid CNN-LSTM-RESNET Model Fed By 2d Segmented Images. Engineering Applications of Artificial Intelligence 116 (2022) 105464</a:t>
            </a:r>
          </a:p>
          <a:p>
            <a:pPr algn="just">
              <a:lnSpc>
                <a:spcPct val="107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[5] P. Mondal, L. Shit, S. Goswami, Study of effectiveness of time series </a:t>
            </a:r>
            <a:r>
              <a:rPr lang="en-IN" sz="2000" kern="100" dirty="0" err="1">
                <a:effectLst/>
                <a:latin typeface="Times New Roman" panose="02020603050405020304" pitchFamily="18" charset="0"/>
                <a:ea typeface="Calibri" panose="020F0502020204030204" pitchFamily="34" charset="0"/>
                <a:cs typeface="Times New Roman" panose="02020603050405020304" pitchFamily="18" charset="0"/>
              </a:rPr>
              <a:t>modeling</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 (ARIMA) in forecasting stock prices, Int. J. </a:t>
            </a:r>
            <a:r>
              <a:rPr lang="en-IN" sz="2000" kern="100" dirty="0" err="1">
                <a:effectLst/>
                <a:latin typeface="Times New Roman" panose="02020603050405020304" pitchFamily="18" charset="0"/>
                <a:ea typeface="Calibri" panose="020F0502020204030204" pitchFamily="34" charset="0"/>
                <a:cs typeface="Times New Roman" panose="02020603050405020304" pitchFamily="18" charset="0"/>
              </a:rPr>
              <a:t>Comput</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 Sci. Eng. Appl. 4 (2) (2014) 13.</a:t>
            </a:r>
          </a:p>
          <a:p>
            <a:pPr algn="just">
              <a:lnSpc>
                <a:spcPct val="107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[6] J. </a:t>
            </a:r>
            <a:r>
              <a:rPr lang="en-IN" sz="2000" kern="100" dirty="0" err="1">
                <a:effectLst/>
                <a:latin typeface="Times New Roman" panose="02020603050405020304" pitchFamily="18" charset="0"/>
                <a:ea typeface="Calibri" panose="020F0502020204030204" pitchFamily="34" charset="0"/>
                <a:cs typeface="Times New Roman" panose="02020603050405020304" pitchFamily="18" charset="0"/>
              </a:rPr>
              <a:t>Bergstra</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 Y. </a:t>
            </a:r>
            <a:r>
              <a:rPr lang="en-IN" sz="2000" kern="100" dirty="0" err="1">
                <a:effectLst/>
                <a:latin typeface="Times New Roman" panose="02020603050405020304" pitchFamily="18" charset="0"/>
                <a:ea typeface="Calibri" panose="020F0502020204030204" pitchFamily="34" charset="0"/>
                <a:cs typeface="Times New Roman" panose="02020603050405020304" pitchFamily="18" charset="0"/>
              </a:rPr>
              <a:t>Bengio</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 Random search for hyper-parameter optimization, J. Mach. Learn. Res. 13 (2) (2012).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Date Placeholder 1">
            <a:extLst>
              <a:ext uri="{FF2B5EF4-FFF2-40B4-BE49-F238E27FC236}">
                <a16:creationId xmlns:a16="http://schemas.microsoft.com/office/drawing/2014/main" id="{A11AEDB1-2B91-B9FA-295C-393E2C4753CB}"/>
              </a:ext>
            </a:extLst>
          </p:cNvPr>
          <p:cNvSpPr>
            <a:spLocks noGrp="1"/>
          </p:cNvSpPr>
          <p:nvPr>
            <p:ph type="dt" sz="half" idx="10"/>
          </p:nvPr>
        </p:nvSpPr>
        <p:spPr/>
        <p:txBody>
          <a:bodyPr/>
          <a:lstStyle/>
          <a:p>
            <a:fld id="{88A67541-5E5C-4B9C-9A5A-E244A004DE4F}" type="datetime1">
              <a:rPr lang="en-IN" sz="1400" smtClean="0">
                <a:latin typeface="Times New Roman" panose="02020603050405020304" pitchFamily="18" charset="0"/>
                <a:cs typeface="Times New Roman" panose="02020603050405020304" pitchFamily="18" charset="0"/>
              </a:rPr>
              <a:t>28-04-2023</a:t>
            </a:fld>
            <a:endParaRPr lang="en-IN"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45D827E5-FC63-00C9-73F2-38C1C1785E09}"/>
              </a:ext>
            </a:extLst>
          </p:cNvPr>
          <p:cNvSpPr>
            <a:spLocks noGrp="1"/>
          </p:cNvSpPr>
          <p:nvPr>
            <p:ph type="ftr" sz="quarter" idx="11"/>
          </p:nvPr>
        </p:nvSpPr>
        <p:spPr/>
        <p:txBody>
          <a:bodyPr/>
          <a:lstStyle/>
          <a:p>
            <a:r>
              <a:rPr lang="en-IN" sz="1400" dirty="0">
                <a:latin typeface="Times New Roman" panose="02020603050405020304" pitchFamily="18" charset="0"/>
                <a:cs typeface="Times New Roman" panose="02020603050405020304" pitchFamily="18" charset="0"/>
              </a:rPr>
              <a:t>SKCET / AI &amp; DS</a:t>
            </a:r>
          </a:p>
        </p:txBody>
      </p:sp>
      <p:sp>
        <p:nvSpPr>
          <p:cNvPr id="4" name="Slide Number Placeholder 3">
            <a:extLst>
              <a:ext uri="{FF2B5EF4-FFF2-40B4-BE49-F238E27FC236}">
                <a16:creationId xmlns:a16="http://schemas.microsoft.com/office/drawing/2014/main" id="{D0D25DE4-F00B-9D8B-9490-5453E535B951}"/>
              </a:ext>
            </a:extLst>
          </p:cNvPr>
          <p:cNvSpPr>
            <a:spLocks noGrp="1"/>
          </p:cNvSpPr>
          <p:nvPr>
            <p:ph type="sldNum" sz="quarter" idx="12"/>
          </p:nvPr>
        </p:nvSpPr>
        <p:spPr/>
        <p:txBody>
          <a:bodyPr/>
          <a:lstStyle/>
          <a:p>
            <a:fld id="{424570A0-3C5D-48CC-A9DB-EDDFA94DE3F8}" type="slidenum">
              <a:rPr lang="en-IN" sz="1400" smtClean="0">
                <a:latin typeface="Times New Roman" panose="02020603050405020304" pitchFamily="18" charset="0"/>
                <a:cs typeface="Times New Roman" panose="02020603050405020304" pitchFamily="18" charset="0"/>
              </a:rPr>
              <a:t>25</a:t>
            </a:fld>
            <a:endParaRPr lang="en-IN" sz="1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F561090-08EA-0F2F-E403-D8F01B863909}"/>
              </a:ext>
            </a:extLst>
          </p:cNvPr>
          <p:cNvSpPr txBox="1"/>
          <p:nvPr/>
        </p:nvSpPr>
        <p:spPr>
          <a:xfrm>
            <a:off x="626268" y="406951"/>
            <a:ext cx="6256962"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844982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oogle Shape;164;p27">
            <a:extLst>
              <a:ext uri="{FF2B5EF4-FFF2-40B4-BE49-F238E27FC236}">
                <a16:creationId xmlns:a16="http://schemas.microsoft.com/office/drawing/2014/main" id="{67CAA5ED-E48C-D95A-4DA1-E28DCF6F344C}"/>
              </a:ext>
            </a:extLst>
          </p:cNvPr>
          <p:cNvSpPr txBox="1">
            <a:spLocks/>
          </p:cNvSpPr>
          <p:nvPr/>
        </p:nvSpPr>
        <p:spPr>
          <a:xfrm flipH="1">
            <a:off x="700547" y="942326"/>
            <a:ext cx="11068665" cy="5269249"/>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7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[7] G.J. </a:t>
            </a:r>
            <a:r>
              <a:rPr lang="en-IN" sz="2000" kern="100" dirty="0" err="1">
                <a:effectLst/>
                <a:latin typeface="Times New Roman" panose="02020603050405020304" pitchFamily="18" charset="0"/>
                <a:ea typeface="Calibri" panose="020F0502020204030204" pitchFamily="34" charset="0"/>
                <a:cs typeface="Times New Roman" panose="02020603050405020304" pitchFamily="18" charset="0"/>
              </a:rPr>
              <a:t>Deboeck</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 Trading on the edge: neural, genetic, and fuzzy systems for chaotic financial markets 39 (1994). </a:t>
            </a:r>
          </a:p>
          <a:p>
            <a:pPr algn="just">
              <a:lnSpc>
                <a:spcPct val="107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[8] F. Feng, H. Chen, X. He, J. Ding, M. Sun, T.S. Chua, Enhancing stock movement prediction with adversarial training, IJCAI (2019)</a:t>
            </a:r>
          </a:p>
          <a:p>
            <a:pPr algn="just">
              <a:lnSpc>
                <a:spcPct val="107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[9] K. Chen, Y. Zhou, F. Dai, A LSTM-based method for stock returns prediction: A case study of China stock market, in: 2015 IEEE International Conference on Big Data, big data, IEEE, 2015, pp. 2823–2824. </a:t>
            </a:r>
          </a:p>
          <a:p>
            <a:pPr algn="just">
              <a:lnSpc>
                <a:spcPct val="107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[10] F. Jiang, G. Tang, G. Zhou, Firm characteristics and Chinese stocks, J. Manage. Sci. Eng. 3 (4) (2018) 259–283. </a:t>
            </a:r>
          </a:p>
          <a:p>
            <a:pPr algn="just">
              <a:lnSpc>
                <a:spcPct val="107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[11] A. Yadav, C.K. Jha, A. Sharan, Optimizing LSTM for time series prediction in Indian stock market, Procedia </a:t>
            </a:r>
            <a:r>
              <a:rPr lang="en-IN" sz="2000" kern="100" dirty="0" err="1">
                <a:effectLst/>
                <a:latin typeface="Times New Roman" panose="02020603050405020304" pitchFamily="18" charset="0"/>
                <a:ea typeface="Calibri" panose="020F0502020204030204" pitchFamily="34" charset="0"/>
                <a:cs typeface="Times New Roman" panose="02020603050405020304" pitchFamily="18" charset="0"/>
              </a:rPr>
              <a:t>Comput</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 Sci. 167 (2020) 2091–2100.</a:t>
            </a:r>
          </a:p>
          <a:p>
            <a:pPr algn="just">
              <a:lnSpc>
                <a:spcPct val="107000"/>
              </a:lnSpc>
              <a:spcAft>
                <a:spcPts val="800"/>
              </a:spcAft>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[12] Y. Zhao, Y. Shen, Y. Zhu, J. Yao, Forecasting wavelet transformed time series</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Date Placeholder 1">
            <a:extLst>
              <a:ext uri="{FF2B5EF4-FFF2-40B4-BE49-F238E27FC236}">
                <a16:creationId xmlns:a16="http://schemas.microsoft.com/office/drawing/2014/main" id="{A11AEDB1-2B91-B9FA-295C-393E2C4753CB}"/>
              </a:ext>
            </a:extLst>
          </p:cNvPr>
          <p:cNvSpPr>
            <a:spLocks noGrp="1"/>
          </p:cNvSpPr>
          <p:nvPr>
            <p:ph type="dt" sz="half" idx="10"/>
          </p:nvPr>
        </p:nvSpPr>
        <p:spPr/>
        <p:txBody>
          <a:bodyPr/>
          <a:lstStyle/>
          <a:p>
            <a:fld id="{88A67541-5E5C-4B9C-9A5A-E244A004DE4F}" type="datetime1">
              <a:rPr lang="en-IN" sz="1400" smtClean="0">
                <a:latin typeface="Times New Roman" panose="02020603050405020304" pitchFamily="18" charset="0"/>
                <a:cs typeface="Times New Roman" panose="02020603050405020304" pitchFamily="18" charset="0"/>
              </a:rPr>
              <a:t>28-04-2023</a:t>
            </a:fld>
            <a:endParaRPr lang="en-IN"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45D827E5-FC63-00C9-73F2-38C1C1785E09}"/>
              </a:ext>
            </a:extLst>
          </p:cNvPr>
          <p:cNvSpPr>
            <a:spLocks noGrp="1"/>
          </p:cNvSpPr>
          <p:nvPr>
            <p:ph type="ftr" sz="quarter" idx="11"/>
          </p:nvPr>
        </p:nvSpPr>
        <p:spPr/>
        <p:txBody>
          <a:bodyPr/>
          <a:lstStyle/>
          <a:p>
            <a:r>
              <a:rPr lang="en-IN" sz="1400" dirty="0">
                <a:latin typeface="Times New Roman" panose="02020603050405020304" pitchFamily="18" charset="0"/>
                <a:cs typeface="Times New Roman" panose="02020603050405020304" pitchFamily="18" charset="0"/>
              </a:rPr>
              <a:t>SKCET / AI &amp; DS</a:t>
            </a:r>
          </a:p>
        </p:txBody>
      </p:sp>
      <p:sp>
        <p:nvSpPr>
          <p:cNvPr id="4" name="Slide Number Placeholder 3">
            <a:extLst>
              <a:ext uri="{FF2B5EF4-FFF2-40B4-BE49-F238E27FC236}">
                <a16:creationId xmlns:a16="http://schemas.microsoft.com/office/drawing/2014/main" id="{D0D25DE4-F00B-9D8B-9490-5453E535B951}"/>
              </a:ext>
            </a:extLst>
          </p:cNvPr>
          <p:cNvSpPr>
            <a:spLocks noGrp="1"/>
          </p:cNvSpPr>
          <p:nvPr>
            <p:ph type="sldNum" sz="quarter" idx="12"/>
          </p:nvPr>
        </p:nvSpPr>
        <p:spPr/>
        <p:txBody>
          <a:bodyPr/>
          <a:lstStyle/>
          <a:p>
            <a:fld id="{424570A0-3C5D-48CC-A9DB-EDDFA94DE3F8}" type="slidenum">
              <a:rPr lang="en-IN" sz="1400" smtClean="0">
                <a:latin typeface="Times New Roman" panose="02020603050405020304" pitchFamily="18" charset="0"/>
                <a:cs typeface="Times New Roman" panose="02020603050405020304" pitchFamily="18" charset="0"/>
              </a:rPr>
              <a:t>26</a:t>
            </a:fld>
            <a:endParaRPr lang="en-IN" sz="1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6F9F1CA-47EA-CCF9-5C76-B7000799E012}"/>
              </a:ext>
            </a:extLst>
          </p:cNvPr>
          <p:cNvSpPr txBox="1"/>
          <p:nvPr/>
        </p:nvSpPr>
        <p:spPr>
          <a:xfrm>
            <a:off x="700547" y="419106"/>
            <a:ext cx="6256962"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30779654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2927F-41F3-C22F-C978-4415E43FB32C}"/>
              </a:ext>
            </a:extLst>
          </p:cNvPr>
          <p:cNvSpPr>
            <a:spLocks noGrp="1"/>
          </p:cNvSpPr>
          <p:nvPr>
            <p:ph type="title"/>
          </p:nvPr>
        </p:nvSpPr>
        <p:spPr>
          <a:xfrm>
            <a:off x="838200" y="2766219"/>
            <a:ext cx="10515600" cy="662781"/>
          </a:xfrm>
        </p:spPr>
        <p:txBody>
          <a:bodyPr>
            <a:normAutofit/>
          </a:bodyPr>
          <a:lstStyle/>
          <a:p>
            <a:pPr algn="ctr"/>
            <a:r>
              <a:rPr lang="en-IN" sz="4000" b="1" dirty="0">
                <a:latin typeface="Times New Roman" panose="02020603050405020304" pitchFamily="18" charset="0"/>
                <a:cs typeface="Times New Roman" panose="02020603050405020304" pitchFamily="18" charset="0"/>
              </a:rPr>
              <a:t>QUERIES ?</a:t>
            </a:r>
          </a:p>
        </p:txBody>
      </p:sp>
      <p:sp>
        <p:nvSpPr>
          <p:cNvPr id="3" name="Date Placeholder 2">
            <a:extLst>
              <a:ext uri="{FF2B5EF4-FFF2-40B4-BE49-F238E27FC236}">
                <a16:creationId xmlns:a16="http://schemas.microsoft.com/office/drawing/2014/main" id="{65CC1D59-976E-FF1C-B86F-D6D3D9811D88}"/>
              </a:ext>
            </a:extLst>
          </p:cNvPr>
          <p:cNvSpPr>
            <a:spLocks noGrp="1"/>
          </p:cNvSpPr>
          <p:nvPr>
            <p:ph type="dt" sz="half" idx="10"/>
          </p:nvPr>
        </p:nvSpPr>
        <p:spPr/>
        <p:txBody>
          <a:bodyPr/>
          <a:lstStyle/>
          <a:p>
            <a:fld id="{C5166A0C-494C-44C6-81BE-32F6E6C2046D}" type="datetime1">
              <a:rPr lang="en-IN" sz="1400" smtClean="0">
                <a:latin typeface="Times New Roman" panose="02020603050405020304" pitchFamily="18" charset="0"/>
                <a:cs typeface="Times New Roman" panose="02020603050405020304" pitchFamily="18" charset="0"/>
              </a:rPr>
              <a:t>28-04-2023</a:t>
            </a:fld>
            <a:endParaRPr lang="en-IN"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C7F6CBC6-0739-C3F1-FADE-D39E3392AE9E}"/>
              </a:ext>
            </a:extLst>
          </p:cNvPr>
          <p:cNvSpPr>
            <a:spLocks noGrp="1"/>
          </p:cNvSpPr>
          <p:nvPr>
            <p:ph type="ftr" sz="quarter" idx="11"/>
          </p:nvPr>
        </p:nvSpPr>
        <p:spPr/>
        <p:txBody>
          <a:bodyPr/>
          <a:lstStyle/>
          <a:p>
            <a:r>
              <a:rPr lang="en-IN" sz="1400" dirty="0">
                <a:latin typeface="Times New Roman" panose="02020603050405020304" pitchFamily="18" charset="0"/>
                <a:cs typeface="Times New Roman" panose="02020603050405020304" pitchFamily="18" charset="0"/>
              </a:rPr>
              <a:t>SKCET / AI &amp; DS</a:t>
            </a:r>
          </a:p>
        </p:txBody>
      </p:sp>
      <p:sp>
        <p:nvSpPr>
          <p:cNvPr id="5" name="Slide Number Placeholder 4">
            <a:extLst>
              <a:ext uri="{FF2B5EF4-FFF2-40B4-BE49-F238E27FC236}">
                <a16:creationId xmlns:a16="http://schemas.microsoft.com/office/drawing/2014/main" id="{30797C04-EEB9-D5AC-8D90-2F1C1EBC4D26}"/>
              </a:ext>
            </a:extLst>
          </p:cNvPr>
          <p:cNvSpPr>
            <a:spLocks noGrp="1"/>
          </p:cNvSpPr>
          <p:nvPr>
            <p:ph type="sldNum" sz="quarter" idx="12"/>
          </p:nvPr>
        </p:nvSpPr>
        <p:spPr/>
        <p:txBody>
          <a:bodyPr/>
          <a:lstStyle/>
          <a:p>
            <a:fld id="{424570A0-3C5D-48CC-A9DB-EDDFA94DE3F8}" type="slidenum">
              <a:rPr lang="en-IN" sz="1400" smtClean="0">
                <a:latin typeface="Times New Roman" panose="02020603050405020304" pitchFamily="18" charset="0"/>
                <a:cs typeface="Times New Roman" panose="02020603050405020304" pitchFamily="18" charset="0"/>
              </a:rPr>
              <a:t>27</a:t>
            </a:fld>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1506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AE8C6-B0FB-9E4E-FDFF-EED6E9E16D03}"/>
              </a:ext>
            </a:extLst>
          </p:cNvPr>
          <p:cNvSpPr>
            <a:spLocks noGrp="1"/>
          </p:cNvSpPr>
          <p:nvPr>
            <p:ph type="title"/>
          </p:nvPr>
        </p:nvSpPr>
        <p:spPr>
          <a:xfrm>
            <a:off x="838200" y="2763650"/>
            <a:ext cx="10515600" cy="662781"/>
          </a:xfrm>
        </p:spPr>
        <p:txBody>
          <a:bodyPr>
            <a:normAutofit/>
          </a:bodyPr>
          <a:lstStyle/>
          <a:p>
            <a:pPr algn="ctr"/>
            <a:r>
              <a:rPr lang="en-IN" sz="4000" b="1" dirty="0">
                <a:latin typeface="Times New Roman" panose="02020603050405020304" pitchFamily="18" charset="0"/>
                <a:cs typeface="Times New Roman" panose="02020603050405020304" pitchFamily="18" charset="0"/>
              </a:rPr>
              <a:t>THANK YOU</a:t>
            </a:r>
          </a:p>
        </p:txBody>
      </p:sp>
      <p:sp>
        <p:nvSpPr>
          <p:cNvPr id="3" name="Date Placeholder 2">
            <a:extLst>
              <a:ext uri="{FF2B5EF4-FFF2-40B4-BE49-F238E27FC236}">
                <a16:creationId xmlns:a16="http://schemas.microsoft.com/office/drawing/2014/main" id="{D73644D5-8294-4EF6-3AB8-90BDB5CBB091}"/>
              </a:ext>
            </a:extLst>
          </p:cNvPr>
          <p:cNvSpPr>
            <a:spLocks noGrp="1"/>
          </p:cNvSpPr>
          <p:nvPr>
            <p:ph type="dt" sz="half" idx="10"/>
          </p:nvPr>
        </p:nvSpPr>
        <p:spPr/>
        <p:txBody>
          <a:bodyPr/>
          <a:lstStyle/>
          <a:p>
            <a:fld id="{DD6B76D2-37A4-481A-BA92-6D3B92DC20AB}" type="datetime1">
              <a:rPr lang="en-IN" sz="1400" smtClean="0">
                <a:latin typeface="Times New Roman" panose="02020603050405020304" pitchFamily="18" charset="0"/>
                <a:cs typeface="Times New Roman" panose="02020603050405020304" pitchFamily="18" charset="0"/>
              </a:rPr>
              <a:t>28-04-2023</a:t>
            </a:fld>
            <a:endParaRPr lang="en-IN"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917B9FCE-5B7C-0743-AD41-6EFFAF35715E}"/>
              </a:ext>
            </a:extLst>
          </p:cNvPr>
          <p:cNvSpPr>
            <a:spLocks noGrp="1"/>
          </p:cNvSpPr>
          <p:nvPr>
            <p:ph type="ftr" sz="quarter" idx="11"/>
          </p:nvPr>
        </p:nvSpPr>
        <p:spPr/>
        <p:txBody>
          <a:bodyPr/>
          <a:lstStyle/>
          <a:p>
            <a:r>
              <a:rPr lang="en-IN" sz="1400" dirty="0">
                <a:latin typeface="Times New Roman" panose="02020603050405020304" pitchFamily="18" charset="0"/>
                <a:cs typeface="Times New Roman" panose="02020603050405020304" pitchFamily="18" charset="0"/>
              </a:rPr>
              <a:t>SKCET / AI &amp; DS</a:t>
            </a:r>
          </a:p>
        </p:txBody>
      </p:sp>
      <p:sp>
        <p:nvSpPr>
          <p:cNvPr id="5" name="Slide Number Placeholder 4">
            <a:extLst>
              <a:ext uri="{FF2B5EF4-FFF2-40B4-BE49-F238E27FC236}">
                <a16:creationId xmlns:a16="http://schemas.microsoft.com/office/drawing/2014/main" id="{37D6703B-5A07-1D1E-2F68-6112A75102D6}"/>
              </a:ext>
            </a:extLst>
          </p:cNvPr>
          <p:cNvSpPr>
            <a:spLocks noGrp="1"/>
          </p:cNvSpPr>
          <p:nvPr>
            <p:ph type="sldNum" sz="quarter" idx="12"/>
          </p:nvPr>
        </p:nvSpPr>
        <p:spPr/>
        <p:txBody>
          <a:bodyPr/>
          <a:lstStyle/>
          <a:p>
            <a:fld id="{424570A0-3C5D-48CC-A9DB-EDDFA94DE3F8}" type="slidenum">
              <a:rPr lang="en-IN" sz="1400" smtClean="0">
                <a:latin typeface="Times New Roman" panose="02020603050405020304" pitchFamily="18" charset="0"/>
                <a:cs typeface="Times New Roman" panose="02020603050405020304" pitchFamily="18" charset="0"/>
              </a:rPr>
              <a:t>28</a:t>
            </a:fld>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70079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382</TotalTime>
  <Words>1682</Words>
  <Application>Microsoft Office PowerPoint</Application>
  <PresentationFormat>Widescreen</PresentationFormat>
  <Paragraphs>251</Paragraphs>
  <Slides>28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Calibri Light</vt:lpstr>
      <vt:lpstr>Times New Roman</vt:lpstr>
      <vt:lpstr>Wingdings</vt:lpstr>
      <vt:lpstr>Office Theme</vt:lpstr>
      <vt:lpstr>STOCK PRICE PREDICTION AND FORECASTING  USING MACHINE LEARNING</vt:lpstr>
      <vt:lpstr>PowerPoint Presentation</vt:lpstr>
      <vt:lpstr>PowerPoint Presentation</vt:lpstr>
      <vt:lpstr>EXISTING SYSTEM</vt:lpstr>
      <vt:lpstr>PowerPoint Presentation</vt:lpstr>
      <vt:lpstr>PowerPoint Presentation</vt:lpstr>
      <vt:lpstr>PowerPoint Presentation</vt:lpstr>
      <vt:lpstr>PROPOSED SYSTEM</vt:lpstr>
      <vt:lpstr>PowerPoint Presentation</vt:lpstr>
      <vt:lpstr>LONG SHORT-TERM MEMORY (LSTM)</vt:lpstr>
      <vt:lpstr>LSTM ARCHITECTURE</vt:lpstr>
      <vt:lpstr>BI-DIRECTIONAL LONG SHORT-TERM MEMORY (BI-LSTM)</vt:lpstr>
      <vt:lpstr>BI-LSTM ARCHITECTURE</vt:lpstr>
      <vt:lpstr>PowerPoint Presentation</vt:lpstr>
      <vt:lpstr>PowerPoint Presentation</vt:lpstr>
      <vt:lpstr>PowerPoint Presentation</vt:lpstr>
      <vt:lpstr>EFFICIENCY OF THE PROPOSED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QUERIES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COVID-19 DETECTION AND PREDICTION USING CONVOLUTIONAL NEURAL NETWORKS</dc:title>
  <dc:creator>Varun Sivamani</dc:creator>
  <cp:lastModifiedBy>VARUN SIVAMANI</cp:lastModifiedBy>
  <cp:revision>65</cp:revision>
  <dcterms:created xsi:type="dcterms:W3CDTF">2022-11-10T13:55:35Z</dcterms:created>
  <dcterms:modified xsi:type="dcterms:W3CDTF">2023-04-28T03:34:56Z</dcterms:modified>
</cp:coreProperties>
</file>